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â€” 0:00â€“0:25]</a:t>
            </a:r>
          </a:p>
          <a:p>
            <a:r>
              <a:t>Good morning. My name is IT22091352, and my component is the Text-to-Sign Language Animation Engine â€” an AI-powered system that converts Sinhala text into Sinhala Sign Language video in real time.</a:t>
            </a:r>
          </a:p>
          <a:p/>
          <a:p>
            <a:r>
              <a:t>The problem I am solving: over 35,000 deaf individuals in Sri Lanka rely on Sinhala Sign Language daily, yet no automated tool exists to translate Sinhala text into SSL. Deaf children cannot access digital educational content. Human interpreters are costly and unavailable 24/7. My component bridges this gap.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â€” 0:25â€“1:00]</a:t>
            </a:r>
          </a:p>
          <a:p>
            <a:r>
              <a:t>My solution is a 4-step translation pipeline.</a:t>
            </a:r>
          </a:p>
          <a:p>
            <a:r>
              <a:t>Step 1 â€” The NLP engine tokenizes the Sinhala input using the sinling tokenizer and strips word inflections up to 6 characters automatically.</a:t>
            </a:r>
          </a:p>
          <a:p>
            <a:r>
              <a:t>Step 2 â€” Each token is mapped to a Concept ID using a vocabulary database. Word2Vec semantic similarity handles unknown words.</a:t>
            </a:r>
          </a:p>
          <a:p>
            <a:r>
              <a:t>Step 3 â€” The grammar reorder module converts Sinhala sentence order to SSL grammar order â€” Subject, Object, Verb.</a:t>
            </a:r>
          </a:p>
          <a:p>
            <a:r>
              <a:t>Step 4 â€” The video engine resolves each concept to an MP4 clip from my 750-sign dataset, stitches them with MoviePy, and returns the animation URL to the React frontend.</a:t>
            </a:r>
          </a:p>
          <a:p/>
          <a:p>
            <a:r>
              <a:t>For example: 'à¶¸à¶¸ à¶œà·™à¶¯à¶» à¶ºà¶ºà·’' â€” I go home â€” is tokenized to three concepts: CONCEPT_ME, CONCEPT_HOME, CONCEPT_GO â€” and three clips are stitched into a single animation.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â€” 1:00â€“1:30]</a:t>
            </a:r>
          </a:p>
          <a:p>
            <a:r>
              <a:t>RESULTS (1:00â€“1:15): In testing I achieved 87% concept resolution accuracy and 92% tokenisation accuracy across 200 plus Sinhala phrases. End-to-end translation latency is under 2 seconds. Word2Vec semantic fallback resolves 85% of out-of-vocabulary tokens. Validated using test_vocabulary.py and test_grammar_advanced.py.</a:t>
            </a:r>
          </a:p>
          <a:p/>
          <a:p>
            <a:r>
              <a:t>CHALLENGES (1:15â€“1:22): The main challenge is the agglutinative nature of Sinhala â€” one word can carry multiple grammatical meanings. I solved this with vocabulary-driven morphological stripping rather than hardcoded rules. Going forward, I plan to expand to 25 sign categories and integrate the 3D neural avatar engine.</a:t>
            </a:r>
          </a:p>
          <a:p/>
          <a:p>
            <a:r>
              <a:t>CONCLUSION (1:22â€“1:30): I have built a working, real-time Sinhala text-to-SSL animation pipeline that is modular, extensible, and makes sign language accessible to 35,000 Sri Lankan deaf learners 24 hours a day.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74320"/>
            <a:ext cx="3657600" cy="384048"/>
          </a:xfrm>
          <a:prstGeom prst="rect">
            <a:avLst/>
          </a:prstGeom>
          <a:solidFill>
            <a:srgbClr val="14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3657600" cy="384048"/>
          </a:xfrm>
          <a:prstGeom prst="rect">
            <a:avLst/>
          </a:prstGeom>
          <a:noFill/>
        </p:spPr>
        <p:txBody>
          <a:bodyPr wrap="square">
            <a:spAutoFit/>
          </a:bodyPr>
          <a:lstStyle/>
          <a:p>
            <a:pPr algn="ctr"/>
            <a:r>
              <a:rPr sz="1100" b="1" i="0">
                <a:solidFill>
                  <a:srgbClr val="FFFFFF"/>
                </a:solidFill>
              </a:rPr>
              <a:t>  RESEARCH COMPONENT 4  â€”  IT22091352  </a:t>
            </a:r>
          </a:p>
        </p:txBody>
      </p:sp>
      <p:sp>
        <p:nvSpPr>
          <p:cNvPr id="5" name="TextBox 4"/>
          <p:cNvSpPr txBox="1"/>
          <p:nvPr/>
        </p:nvSpPr>
        <p:spPr>
          <a:xfrm>
            <a:off x="457200" y="777240"/>
            <a:ext cx="7315200" cy="1645920"/>
          </a:xfrm>
          <a:prstGeom prst="rect">
            <a:avLst/>
          </a:prstGeom>
          <a:noFill/>
        </p:spPr>
        <p:txBody>
          <a:bodyPr wrap="square">
            <a:spAutoFit/>
          </a:bodyPr>
          <a:lstStyle/>
          <a:p>
            <a:pPr algn="l"/>
            <a:r>
              <a:rPr sz="4000" b="1" i="0">
                <a:solidFill>
                  <a:srgbClr val="FFFFFF"/>
                </a:solidFill>
              </a:rPr>
              <a:t>Text-to-Sign Language
Animation Engine</a:t>
            </a:r>
          </a:p>
        </p:txBody>
      </p:sp>
      <p:sp>
        <p:nvSpPr>
          <p:cNvPr id="6" name="Rectangle 5"/>
          <p:cNvSpPr/>
          <p:nvPr/>
        </p:nvSpPr>
        <p:spPr>
          <a:xfrm>
            <a:off x="457200" y="2359152"/>
            <a:ext cx="11274552" cy="45720"/>
          </a:xfrm>
          <a:prstGeom prst="rect">
            <a:avLst/>
          </a:prstGeom>
          <a:solidFill>
            <a:srgbClr val="00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487168"/>
            <a:ext cx="7772400" cy="438912"/>
          </a:xfrm>
          <a:prstGeom prst="rect">
            <a:avLst/>
          </a:prstGeom>
          <a:noFill/>
        </p:spPr>
        <p:txBody>
          <a:bodyPr wrap="square">
            <a:spAutoFit/>
          </a:bodyPr>
          <a:lstStyle/>
          <a:p>
            <a:pPr algn="l"/>
            <a:r>
              <a:rPr sz="1500" b="0" i="0">
                <a:solidFill>
                  <a:srgbClr val="00C8FF"/>
                </a:solidFill>
              </a:rPr>
              <a:t>AI-Powered Sinhala Sign Language (SSL) Translation &amp; Video Synthesis</a:t>
            </a:r>
          </a:p>
        </p:txBody>
      </p:sp>
      <p:sp>
        <p:nvSpPr>
          <p:cNvPr id="8" name="Rectangle 7"/>
          <p:cNvSpPr/>
          <p:nvPr/>
        </p:nvSpPr>
        <p:spPr>
          <a:xfrm>
            <a:off x="457200" y="3017520"/>
            <a:ext cx="2011680" cy="320040"/>
          </a:xfrm>
          <a:prstGeom prst="rect">
            <a:avLst/>
          </a:prstGeom>
          <a:solidFill>
            <a:srgbClr val="1B3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3017520"/>
            <a:ext cx="2011680" cy="320040"/>
          </a:xfrm>
          <a:prstGeom prst="rect">
            <a:avLst/>
          </a:prstGeom>
          <a:noFill/>
        </p:spPr>
        <p:txBody>
          <a:bodyPr wrap="square">
            <a:spAutoFit/>
          </a:bodyPr>
          <a:lstStyle/>
          <a:p>
            <a:pPr algn="ctr"/>
            <a:r>
              <a:rPr sz="1100" b="1" i="0">
                <a:solidFill>
                  <a:srgbClr val="00C8FF"/>
                </a:solidFill>
              </a:rPr>
              <a:t>Flask API</a:t>
            </a:r>
          </a:p>
        </p:txBody>
      </p:sp>
      <p:sp>
        <p:nvSpPr>
          <p:cNvPr id="10" name="Rectangle 9"/>
          <p:cNvSpPr/>
          <p:nvPr/>
        </p:nvSpPr>
        <p:spPr>
          <a:xfrm>
            <a:off x="2606040" y="3017520"/>
            <a:ext cx="2011680" cy="320040"/>
          </a:xfrm>
          <a:prstGeom prst="rect">
            <a:avLst/>
          </a:prstGeom>
          <a:solidFill>
            <a:srgbClr val="1B3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06040" y="3017520"/>
            <a:ext cx="2011680" cy="320040"/>
          </a:xfrm>
          <a:prstGeom prst="rect">
            <a:avLst/>
          </a:prstGeom>
          <a:noFill/>
        </p:spPr>
        <p:txBody>
          <a:bodyPr wrap="square">
            <a:spAutoFit/>
          </a:bodyPr>
          <a:lstStyle/>
          <a:p>
            <a:pPr algn="ctr"/>
            <a:r>
              <a:rPr sz="1100" b="1" i="0">
                <a:solidFill>
                  <a:srgbClr val="00C8FF"/>
                </a:solidFill>
              </a:rPr>
              <a:t>NLP Engine</a:t>
            </a:r>
          </a:p>
        </p:txBody>
      </p:sp>
      <p:sp>
        <p:nvSpPr>
          <p:cNvPr id="12" name="Rectangle 11"/>
          <p:cNvSpPr/>
          <p:nvPr/>
        </p:nvSpPr>
        <p:spPr>
          <a:xfrm>
            <a:off x="4754880" y="3017520"/>
            <a:ext cx="2011680" cy="320040"/>
          </a:xfrm>
          <a:prstGeom prst="rect">
            <a:avLst/>
          </a:prstGeom>
          <a:solidFill>
            <a:srgbClr val="1B3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0" y="3017520"/>
            <a:ext cx="2011680" cy="320040"/>
          </a:xfrm>
          <a:prstGeom prst="rect">
            <a:avLst/>
          </a:prstGeom>
          <a:noFill/>
        </p:spPr>
        <p:txBody>
          <a:bodyPr wrap="square">
            <a:spAutoFit/>
          </a:bodyPr>
          <a:lstStyle/>
          <a:p>
            <a:pPr algn="ctr"/>
            <a:r>
              <a:rPr sz="1100" b="1" i="0">
                <a:solidFill>
                  <a:srgbClr val="00C8FF"/>
                </a:solidFill>
              </a:rPr>
              <a:t>Word2Vec</a:t>
            </a:r>
          </a:p>
        </p:txBody>
      </p:sp>
      <p:sp>
        <p:nvSpPr>
          <p:cNvPr id="14" name="Rectangle 13"/>
          <p:cNvSpPr/>
          <p:nvPr/>
        </p:nvSpPr>
        <p:spPr>
          <a:xfrm>
            <a:off x="6903720" y="3017520"/>
            <a:ext cx="2011680" cy="320040"/>
          </a:xfrm>
          <a:prstGeom prst="rect">
            <a:avLst/>
          </a:prstGeom>
          <a:solidFill>
            <a:srgbClr val="1B3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03720" y="3017520"/>
            <a:ext cx="2011680" cy="320040"/>
          </a:xfrm>
          <a:prstGeom prst="rect">
            <a:avLst/>
          </a:prstGeom>
          <a:noFill/>
        </p:spPr>
        <p:txBody>
          <a:bodyPr wrap="square">
            <a:spAutoFit/>
          </a:bodyPr>
          <a:lstStyle/>
          <a:p>
            <a:pPr algn="ctr"/>
            <a:r>
              <a:rPr sz="1100" b="1" i="0">
                <a:solidFill>
                  <a:srgbClr val="00C8FF"/>
                </a:solidFill>
              </a:rPr>
              <a:t>MoviePy</a:t>
            </a:r>
          </a:p>
        </p:txBody>
      </p:sp>
      <p:sp>
        <p:nvSpPr>
          <p:cNvPr id="16" name="Rectangle 15"/>
          <p:cNvSpPr/>
          <p:nvPr/>
        </p:nvSpPr>
        <p:spPr>
          <a:xfrm>
            <a:off x="9052560" y="3017520"/>
            <a:ext cx="2011680" cy="320040"/>
          </a:xfrm>
          <a:prstGeom prst="rect">
            <a:avLst/>
          </a:prstGeom>
          <a:solidFill>
            <a:srgbClr val="1B3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52560" y="3017520"/>
            <a:ext cx="2011680" cy="320040"/>
          </a:xfrm>
          <a:prstGeom prst="rect">
            <a:avLst/>
          </a:prstGeom>
          <a:noFill/>
        </p:spPr>
        <p:txBody>
          <a:bodyPr wrap="square">
            <a:spAutoFit/>
          </a:bodyPr>
          <a:lstStyle/>
          <a:p>
            <a:pPr algn="ctr"/>
            <a:r>
              <a:rPr sz="1100" b="1" i="0">
                <a:solidFill>
                  <a:srgbClr val="00C8FF"/>
                </a:solidFill>
              </a:rPr>
              <a:t>React UI</a:t>
            </a:r>
          </a:p>
        </p:txBody>
      </p:sp>
      <p:sp>
        <p:nvSpPr>
          <p:cNvPr id="18" name="Rectangle 17"/>
          <p:cNvSpPr/>
          <p:nvPr/>
        </p:nvSpPr>
        <p:spPr>
          <a:xfrm>
            <a:off x="8229600" y="228600"/>
            <a:ext cx="3749039" cy="4663440"/>
          </a:xfrm>
          <a:prstGeom prst="rect">
            <a:avLst/>
          </a:prstGeom>
          <a:solidFill>
            <a:srgbClr val="1B3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320040"/>
            <a:ext cx="3474720" cy="347472"/>
          </a:xfrm>
          <a:prstGeom prst="rect">
            <a:avLst/>
          </a:prstGeom>
          <a:noFill/>
        </p:spPr>
        <p:txBody>
          <a:bodyPr wrap="square">
            <a:spAutoFit/>
          </a:bodyPr>
          <a:lstStyle/>
          <a:p>
            <a:pPr algn="l"/>
            <a:r>
              <a:rPr sz="1300" b="1" i="0">
                <a:solidFill>
                  <a:srgbClr val="00C8FF"/>
                </a:solidFill>
              </a:rPr>
              <a:t>Problem Statement</a:t>
            </a:r>
          </a:p>
        </p:txBody>
      </p:sp>
      <p:sp>
        <p:nvSpPr>
          <p:cNvPr id="20" name="TextBox 19"/>
          <p:cNvSpPr txBox="1"/>
          <p:nvPr/>
        </p:nvSpPr>
        <p:spPr>
          <a:xfrm>
            <a:off x="8366760" y="749808"/>
            <a:ext cx="3474720" cy="411480"/>
          </a:xfrm>
          <a:prstGeom prst="rect">
            <a:avLst/>
          </a:prstGeom>
          <a:noFill/>
        </p:spPr>
        <p:txBody>
          <a:bodyPr wrap="square">
            <a:spAutoFit/>
          </a:bodyPr>
          <a:lstStyle/>
          <a:p>
            <a:pPr algn="l"/>
            <a:r>
              <a:rPr sz="2200" b="1" i="0">
                <a:solidFill>
                  <a:srgbClr val="FFD000"/>
                </a:solidFill>
              </a:rPr>
              <a:t>~357M</a:t>
            </a:r>
          </a:p>
        </p:txBody>
      </p:sp>
      <p:sp>
        <p:nvSpPr>
          <p:cNvPr id="21" name="TextBox 20"/>
          <p:cNvSpPr txBox="1"/>
          <p:nvPr/>
        </p:nvSpPr>
        <p:spPr>
          <a:xfrm>
            <a:off x="8366760" y="1161288"/>
            <a:ext cx="3474720" cy="384048"/>
          </a:xfrm>
          <a:prstGeom prst="rect">
            <a:avLst/>
          </a:prstGeom>
          <a:noFill/>
        </p:spPr>
        <p:txBody>
          <a:bodyPr wrap="square">
            <a:spAutoFit/>
          </a:bodyPr>
          <a:lstStyle/>
          <a:p>
            <a:pPr algn="l"/>
            <a:r>
              <a:rPr sz="1100" b="0" i="0">
                <a:solidFill>
                  <a:srgbClr val="CCD6E0"/>
                </a:solidFill>
              </a:rPr>
              <a:t>people live with hearing
or speech disabilities</a:t>
            </a:r>
          </a:p>
        </p:txBody>
      </p:sp>
      <p:sp>
        <p:nvSpPr>
          <p:cNvPr id="22" name="TextBox 21"/>
          <p:cNvSpPr txBox="1"/>
          <p:nvPr/>
        </p:nvSpPr>
        <p:spPr>
          <a:xfrm>
            <a:off x="8366760" y="1709928"/>
            <a:ext cx="3474720" cy="411480"/>
          </a:xfrm>
          <a:prstGeom prst="rect">
            <a:avLst/>
          </a:prstGeom>
          <a:noFill/>
        </p:spPr>
        <p:txBody>
          <a:bodyPr wrap="square">
            <a:spAutoFit/>
          </a:bodyPr>
          <a:lstStyle/>
          <a:p>
            <a:pPr algn="l"/>
            <a:r>
              <a:rPr sz="2200" b="1" i="0">
                <a:solidFill>
                  <a:srgbClr val="FFD000"/>
                </a:solidFill>
              </a:rPr>
              <a:t>~35,000</a:t>
            </a:r>
          </a:p>
        </p:txBody>
      </p:sp>
      <p:sp>
        <p:nvSpPr>
          <p:cNvPr id="23" name="TextBox 22"/>
          <p:cNvSpPr txBox="1"/>
          <p:nvPr/>
        </p:nvSpPr>
        <p:spPr>
          <a:xfrm>
            <a:off x="8366760" y="2121408"/>
            <a:ext cx="3474720" cy="384048"/>
          </a:xfrm>
          <a:prstGeom prst="rect">
            <a:avLst/>
          </a:prstGeom>
          <a:noFill/>
        </p:spPr>
        <p:txBody>
          <a:bodyPr wrap="square">
            <a:spAutoFit/>
          </a:bodyPr>
          <a:lstStyle/>
          <a:p>
            <a:pPr algn="l"/>
            <a:r>
              <a:rPr sz="1100" b="0" i="0">
                <a:solidFill>
                  <a:srgbClr val="CCD6E0"/>
                </a:solidFill>
              </a:rPr>
              <a:t>deaf individuals in
Sri Lanka rely on SSL</a:t>
            </a:r>
          </a:p>
        </p:txBody>
      </p:sp>
      <p:sp>
        <p:nvSpPr>
          <p:cNvPr id="24" name="TextBox 23"/>
          <p:cNvSpPr txBox="1"/>
          <p:nvPr/>
        </p:nvSpPr>
        <p:spPr>
          <a:xfrm>
            <a:off x="8366760" y="2670048"/>
            <a:ext cx="3474720" cy="411480"/>
          </a:xfrm>
          <a:prstGeom prst="rect">
            <a:avLst/>
          </a:prstGeom>
          <a:noFill/>
        </p:spPr>
        <p:txBody>
          <a:bodyPr wrap="square">
            <a:spAutoFit/>
          </a:bodyPr>
          <a:lstStyle/>
          <a:p>
            <a:pPr algn="l"/>
            <a:r>
              <a:rPr sz="2200" b="1" i="0">
                <a:solidFill>
                  <a:srgbClr val="FFD000"/>
                </a:solidFill>
              </a:rPr>
              <a:t>ZERO</a:t>
            </a:r>
          </a:p>
        </p:txBody>
      </p:sp>
      <p:sp>
        <p:nvSpPr>
          <p:cNvPr id="25" name="TextBox 24"/>
          <p:cNvSpPr txBox="1"/>
          <p:nvPr/>
        </p:nvSpPr>
        <p:spPr>
          <a:xfrm>
            <a:off x="8366760" y="3081528"/>
            <a:ext cx="3474720" cy="384048"/>
          </a:xfrm>
          <a:prstGeom prst="rect">
            <a:avLst/>
          </a:prstGeom>
          <a:noFill/>
        </p:spPr>
        <p:txBody>
          <a:bodyPr wrap="square">
            <a:spAutoFit/>
          </a:bodyPr>
          <a:lstStyle/>
          <a:p>
            <a:pPr algn="l"/>
            <a:r>
              <a:rPr sz="1100" b="0" i="0">
                <a:solidFill>
                  <a:srgbClr val="CCD6E0"/>
                </a:solidFill>
              </a:rPr>
              <a:t>automated tools exist
for Sinhala SSL</a:t>
            </a:r>
          </a:p>
        </p:txBody>
      </p:sp>
      <p:sp>
        <p:nvSpPr>
          <p:cNvPr id="26" name="Rectangle 25"/>
          <p:cNvSpPr/>
          <p:nvPr/>
        </p:nvSpPr>
        <p:spPr>
          <a:xfrm>
            <a:off x="8229600" y="3794760"/>
            <a:ext cx="3749039" cy="1097280"/>
          </a:xfrm>
          <a:prstGeom prst="rect">
            <a:avLst/>
          </a:prstGeom>
          <a:solidFill>
            <a:srgbClr val="14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66760" y="3840480"/>
            <a:ext cx="3474720" cy="1005840"/>
          </a:xfrm>
          <a:prstGeom prst="rect">
            <a:avLst/>
          </a:prstGeom>
          <a:noFill/>
        </p:spPr>
        <p:txBody>
          <a:bodyPr wrap="square">
            <a:spAutoFit/>
          </a:bodyPr>
          <a:lstStyle/>
          <a:p>
            <a:pPr algn="l"/>
            <a:r>
              <a:rPr sz="1100" b="0" i="0">
                <a:solidFill>
                  <a:srgbClr val="FFFFFF"/>
                </a:solidFill>
              </a:rPr>
              <a:t>Objective:
Build a real-time Sinhala text â†’ SSL animation pipeline combining NLP, AI Embeddings &amp; Video Synthesis</a:t>
            </a:r>
          </a:p>
        </p:txBody>
      </p:sp>
      <p:sp>
        <p:nvSpPr>
          <p:cNvPr id="28" name="Rectangle 27"/>
          <p:cNvSpPr/>
          <p:nvPr/>
        </p:nvSpPr>
        <p:spPr>
          <a:xfrm>
            <a:off x="457200" y="3493008"/>
            <a:ext cx="7589520" cy="1325880"/>
          </a:xfrm>
          <a:prstGeom prst="rect">
            <a:avLst/>
          </a:prstGeom>
          <a:solidFill>
            <a:srgbClr val="1B3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602736"/>
            <a:ext cx="7260336" cy="320040"/>
          </a:xfrm>
          <a:prstGeom prst="rect">
            <a:avLst/>
          </a:prstGeom>
          <a:noFill/>
        </p:spPr>
        <p:txBody>
          <a:bodyPr wrap="square">
            <a:spAutoFit/>
          </a:bodyPr>
          <a:lstStyle/>
          <a:p>
            <a:pPr algn="l"/>
            <a:r>
              <a:rPr sz="1300" b="1" i="0">
                <a:solidFill>
                  <a:srgbClr val="00C8FF"/>
                </a:solidFill>
              </a:rPr>
              <a:t>Why This Component Matters</a:t>
            </a:r>
          </a:p>
        </p:txBody>
      </p:sp>
      <p:sp>
        <p:nvSpPr>
          <p:cNvPr id="30" name="TextBox 29"/>
          <p:cNvSpPr txBox="1"/>
          <p:nvPr/>
        </p:nvSpPr>
        <p:spPr>
          <a:xfrm>
            <a:off x="566928" y="3950208"/>
            <a:ext cx="228600" cy="292608"/>
          </a:xfrm>
          <a:prstGeom prst="rect">
            <a:avLst/>
          </a:prstGeom>
          <a:noFill/>
        </p:spPr>
        <p:txBody>
          <a:bodyPr wrap="square">
            <a:spAutoFit/>
          </a:bodyPr>
          <a:lstStyle/>
          <a:p>
            <a:pPr algn="l"/>
            <a:r>
              <a:rPr sz="1000" b="1" i="0">
                <a:solidFill>
                  <a:srgbClr val="00C8FF"/>
                </a:solidFill>
              </a:rPr>
              <a:t>â–¸</a:t>
            </a:r>
          </a:p>
        </p:txBody>
      </p:sp>
      <p:sp>
        <p:nvSpPr>
          <p:cNvPr id="31" name="TextBox 30"/>
          <p:cNvSpPr txBox="1"/>
          <p:nvPr/>
        </p:nvSpPr>
        <p:spPr>
          <a:xfrm>
            <a:off x="786384" y="3950208"/>
            <a:ext cx="7095744" cy="292608"/>
          </a:xfrm>
          <a:prstGeom prst="rect">
            <a:avLst/>
          </a:prstGeom>
          <a:noFill/>
        </p:spPr>
        <p:txBody>
          <a:bodyPr wrap="square">
            <a:spAutoFit/>
          </a:bodyPr>
          <a:lstStyle/>
          <a:p>
            <a:pPr algn="l"/>
            <a:r>
              <a:rPr sz="1200" b="0" i="0">
                <a:solidFill>
                  <a:srgbClr val="FFFFFF"/>
                </a:solidFill>
              </a:rPr>
              <a:t>Deaf children cannot access Sinhala digital educational content</a:t>
            </a:r>
          </a:p>
        </p:txBody>
      </p:sp>
      <p:sp>
        <p:nvSpPr>
          <p:cNvPr id="32" name="TextBox 31"/>
          <p:cNvSpPr txBox="1"/>
          <p:nvPr/>
        </p:nvSpPr>
        <p:spPr>
          <a:xfrm>
            <a:off x="566928" y="4251960"/>
            <a:ext cx="228600" cy="292608"/>
          </a:xfrm>
          <a:prstGeom prst="rect">
            <a:avLst/>
          </a:prstGeom>
          <a:noFill/>
        </p:spPr>
        <p:txBody>
          <a:bodyPr wrap="square">
            <a:spAutoFit/>
          </a:bodyPr>
          <a:lstStyle/>
          <a:p>
            <a:pPr algn="l"/>
            <a:r>
              <a:rPr sz="1000" b="1" i="0">
                <a:solidFill>
                  <a:srgbClr val="00C8FF"/>
                </a:solidFill>
              </a:rPr>
              <a:t>â–¸</a:t>
            </a:r>
          </a:p>
        </p:txBody>
      </p:sp>
      <p:sp>
        <p:nvSpPr>
          <p:cNvPr id="33" name="TextBox 32"/>
          <p:cNvSpPr txBox="1"/>
          <p:nvPr/>
        </p:nvSpPr>
        <p:spPr>
          <a:xfrm>
            <a:off x="786384" y="4251960"/>
            <a:ext cx="7095744" cy="292608"/>
          </a:xfrm>
          <a:prstGeom prst="rect">
            <a:avLst/>
          </a:prstGeom>
          <a:noFill/>
        </p:spPr>
        <p:txBody>
          <a:bodyPr wrap="square">
            <a:spAutoFit/>
          </a:bodyPr>
          <a:lstStyle/>
          <a:p>
            <a:pPr algn="l"/>
            <a:r>
              <a:rPr sz="1200" b="0" i="0">
                <a:solidFill>
                  <a:srgbClr val="FFFFFF"/>
                </a:solidFill>
              </a:rPr>
              <a:t>Human interpreters are costly, scarce, and unavailable 24/7</a:t>
            </a:r>
          </a:p>
        </p:txBody>
      </p:sp>
      <p:sp>
        <p:nvSpPr>
          <p:cNvPr id="34" name="TextBox 33"/>
          <p:cNvSpPr txBox="1"/>
          <p:nvPr/>
        </p:nvSpPr>
        <p:spPr>
          <a:xfrm>
            <a:off x="566928" y="4553712"/>
            <a:ext cx="228600" cy="292608"/>
          </a:xfrm>
          <a:prstGeom prst="rect">
            <a:avLst/>
          </a:prstGeom>
          <a:noFill/>
        </p:spPr>
        <p:txBody>
          <a:bodyPr wrap="square">
            <a:spAutoFit/>
          </a:bodyPr>
          <a:lstStyle/>
          <a:p>
            <a:pPr algn="l"/>
            <a:r>
              <a:rPr sz="1000" b="1" i="0">
                <a:solidFill>
                  <a:srgbClr val="00C8FF"/>
                </a:solidFill>
              </a:rPr>
              <a:t>â–¸</a:t>
            </a:r>
          </a:p>
        </p:txBody>
      </p:sp>
      <p:sp>
        <p:nvSpPr>
          <p:cNvPr id="35" name="TextBox 34"/>
          <p:cNvSpPr txBox="1"/>
          <p:nvPr/>
        </p:nvSpPr>
        <p:spPr>
          <a:xfrm>
            <a:off x="786384" y="4553712"/>
            <a:ext cx="7095744" cy="292608"/>
          </a:xfrm>
          <a:prstGeom prst="rect">
            <a:avLst/>
          </a:prstGeom>
          <a:noFill/>
        </p:spPr>
        <p:txBody>
          <a:bodyPr wrap="square">
            <a:spAutoFit/>
          </a:bodyPr>
          <a:lstStyle/>
          <a:p>
            <a:pPr algn="l"/>
            <a:r>
              <a:rPr sz="1200" b="0" i="0">
                <a:solidFill>
                  <a:srgbClr val="FFFFFF"/>
                </a:solidFill>
              </a:rPr>
              <a:t>Existing tools support only English (ASL/BSL) â€” no Sinhala coverage</a:t>
            </a:r>
          </a:p>
        </p:txBody>
      </p:sp>
      <p:sp>
        <p:nvSpPr>
          <p:cNvPr id="36" name="Rectangle 35"/>
          <p:cNvSpPr/>
          <p:nvPr/>
        </p:nvSpPr>
        <p:spPr>
          <a:xfrm>
            <a:off x="0" y="6263640"/>
            <a:ext cx="12188952" cy="594360"/>
          </a:xfrm>
          <a:prstGeom prst="rect">
            <a:avLst/>
          </a:prstGeom>
          <a:solidFill>
            <a:srgbClr val="14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6281928"/>
            <a:ext cx="11430000" cy="411480"/>
          </a:xfrm>
          <a:prstGeom prst="rect">
            <a:avLst/>
          </a:prstGeom>
          <a:noFill/>
        </p:spPr>
        <p:txBody>
          <a:bodyPr wrap="square">
            <a:spAutoFit/>
          </a:bodyPr>
          <a:lstStyle/>
          <a:p>
            <a:pPr algn="ctr"/>
            <a:r>
              <a:rPr sz="1200" b="0" i="0">
                <a:solidFill>
                  <a:srgbClr val="FFFFFF"/>
                </a:solidFill>
              </a:rPr>
              <a:t>Sri Lanka Institute of Information Technology  |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57200" y="228600"/>
            <a:ext cx="11274552" cy="685800"/>
          </a:xfrm>
          <a:prstGeom prst="rect">
            <a:avLst/>
          </a:prstGeom>
          <a:noFill/>
        </p:spPr>
        <p:txBody>
          <a:bodyPr wrap="square">
            <a:spAutoFit/>
          </a:bodyPr>
          <a:lstStyle/>
          <a:p>
            <a:pPr algn="l"/>
            <a:r>
              <a:rPr sz="3000" b="1" i="0">
                <a:solidFill>
                  <a:srgbClr val="00C8FF"/>
                </a:solidFill>
              </a:rPr>
              <a:t>4-Step Translation Pipeline &amp; Implementation</a:t>
            </a:r>
          </a:p>
        </p:txBody>
      </p:sp>
      <p:sp>
        <p:nvSpPr>
          <p:cNvPr id="3" name="TextBox 2"/>
          <p:cNvSpPr txBox="1"/>
          <p:nvPr/>
        </p:nvSpPr>
        <p:spPr>
          <a:xfrm>
            <a:off x="457200" y="914400"/>
            <a:ext cx="11274552" cy="347472"/>
          </a:xfrm>
          <a:prstGeom prst="rect">
            <a:avLst/>
          </a:prstGeom>
          <a:noFill/>
        </p:spPr>
        <p:txBody>
          <a:bodyPr wrap="square">
            <a:spAutoFit/>
          </a:bodyPr>
          <a:lstStyle/>
          <a:p>
            <a:pPr algn="l"/>
            <a:r>
              <a:rPr sz="1400" b="0" i="0">
                <a:solidFill>
                  <a:srgbClr val="CCD6E0"/>
                </a:solidFill>
              </a:rPr>
              <a:t>Sinhala Text Input  â†’  NLP  â†’  Concept Mapping  â†’  Grammar Reorder  â†’  SSL Animation Output</a:t>
            </a:r>
          </a:p>
        </p:txBody>
      </p:sp>
      <p:sp>
        <p:nvSpPr>
          <p:cNvPr id="4" name="Rectangle 3"/>
          <p:cNvSpPr/>
          <p:nvPr/>
        </p:nvSpPr>
        <p:spPr>
          <a:xfrm>
            <a:off x="457200" y="960120"/>
            <a:ext cx="11274552" cy="36576"/>
          </a:xfrm>
          <a:prstGeom prst="rect">
            <a:avLst/>
          </a:prstGeom>
          <a:solidFill>
            <a:srgbClr val="00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234440"/>
            <a:ext cx="2788920" cy="2926080"/>
          </a:xfrm>
          <a:prstGeom prst="rect">
            <a:avLst/>
          </a:prstGeom>
          <a:solidFill>
            <a:srgbClr val="1B3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2788920" cy="475488"/>
          </a:xfrm>
          <a:prstGeom prst="rect">
            <a:avLst/>
          </a:prstGeom>
          <a:solidFill>
            <a:srgbClr val="14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252728"/>
            <a:ext cx="2788920" cy="457200"/>
          </a:xfrm>
          <a:prstGeom prst="rect">
            <a:avLst/>
          </a:prstGeom>
          <a:noFill/>
        </p:spPr>
        <p:txBody>
          <a:bodyPr wrap="square">
            <a:spAutoFit/>
          </a:bodyPr>
          <a:lstStyle/>
          <a:p>
            <a:pPr algn="ctr"/>
            <a:r>
              <a:rPr sz="1500" b="1" i="0">
                <a:solidFill>
                  <a:srgbClr val="FFFFFF"/>
                </a:solidFill>
              </a:rPr>
              <a:t>STEP 01</a:t>
            </a:r>
          </a:p>
        </p:txBody>
      </p:sp>
      <p:sp>
        <p:nvSpPr>
          <p:cNvPr id="8" name="TextBox 7"/>
          <p:cNvSpPr txBox="1"/>
          <p:nvPr/>
        </p:nvSpPr>
        <p:spPr>
          <a:xfrm>
            <a:off x="429768" y="1810512"/>
            <a:ext cx="2578608" cy="365760"/>
          </a:xfrm>
          <a:prstGeom prst="rect">
            <a:avLst/>
          </a:prstGeom>
          <a:noFill/>
        </p:spPr>
        <p:txBody>
          <a:bodyPr wrap="square">
            <a:spAutoFit/>
          </a:bodyPr>
          <a:lstStyle/>
          <a:p>
            <a:pPr algn="ctr"/>
            <a:r>
              <a:rPr sz="1400" b="1" i="0">
                <a:solidFill>
                  <a:srgbClr val="00C8FF"/>
                </a:solidFill>
              </a:rPr>
              <a:t>NLP Engine</a:t>
            </a:r>
          </a:p>
        </p:txBody>
      </p:sp>
      <p:sp>
        <p:nvSpPr>
          <p:cNvPr id="9" name="TextBox 8"/>
          <p:cNvSpPr txBox="1"/>
          <p:nvPr/>
        </p:nvSpPr>
        <p:spPr>
          <a:xfrm>
            <a:off x="429768" y="2231136"/>
            <a:ext cx="2578608" cy="1828800"/>
          </a:xfrm>
          <a:prstGeom prst="rect">
            <a:avLst/>
          </a:prstGeom>
          <a:noFill/>
        </p:spPr>
        <p:txBody>
          <a:bodyPr wrap="square">
            <a:spAutoFit/>
          </a:bodyPr>
          <a:lstStyle/>
          <a:p>
            <a:pPr algn="ctr"/>
            <a:r>
              <a:rPr sz="1100" b="0" i="0">
                <a:solidFill>
                  <a:srgbClr val="CCD6E0"/>
                </a:solidFill>
              </a:rPr>
              <a:t>sinling Tokenizer
Inflection stripping
(1â€“6 char suffixes)
Root-form extraction</a:t>
            </a:r>
          </a:p>
        </p:txBody>
      </p:sp>
      <p:sp>
        <p:nvSpPr>
          <p:cNvPr id="10" name="TextBox 9"/>
          <p:cNvSpPr txBox="1"/>
          <p:nvPr/>
        </p:nvSpPr>
        <p:spPr>
          <a:xfrm>
            <a:off x="3136392" y="2423160"/>
            <a:ext cx="201168" cy="365760"/>
          </a:xfrm>
          <a:prstGeom prst="rect">
            <a:avLst/>
          </a:prstGeom>
          <a:noFill/>
        </p:spPr>
        <p:txBody>
          <a:bodyPr wrap="square">
            <a:spAutoFit/>
          </a:bodyPr>
          <a:lstStyle/>
          <a:p>
            <a:pPr algn="ctr"/>
            <a:r>
              <a:rPr sz="2000" b="1" i="0">
                <a:solidFill>
                  <a:srgbClr val="00C8FF"/>
                </a:solidFill>
              </a:rPr>
              <a:t>â†’</a:t>
            </a:r>
          </a:p>
        </p:txBody>
      </p:sp>
      <p:sp>
        <p:nvSpPr>
          <p:cNvPr id="11" name="Rectangle 10"/>
          <p:cNvSpPr/>
          <p:nvPr/>
        </p:nvSpPr>
        <p:spPr>
          <a:xfrm>
            <a:off x="3319272" y="1234440"/>
            <a:ext cx="2788920" cy="2926080"/>
          </a:xfrm>
          <a:prstGeom prst="rect">
            <a:avLst/>
          </a:prstGeom>
          <a:solidFill>
            <a:srgbClr val="1B3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19272" y="1234440"/>
            <a:ext cx="2788920" cy="475488"/>
          </a:xfrm>
          <a:prstGeom prst="rect">
            <a:avLst/>
          </a:prstGeom>
          <a:solidFill>
            <a:srgbClr val="14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19272" y="1252728"/>
            <a:ext cx="2788920" cy="457200"/>
          </a:xfrm>
          <a:prstGeom prst="rect">
            <a:avLst/>
          </a:prstGeom>
          <a:noFill/>
        </p:spPr>
        <p:txBody>
          <a:bodyPr wrap="square">
            <a:spAutoFit/>
          </a:bodyPr>
          <a:lstStyle/>
          <a:p>
            <a:pPr algn="ctr"/>
            <a:r>
              <a:rPr sz="1500" b="1" i="0">
                <a:solidFill>
                  <a:srgbClr val="FFFFFF"/>
                </a:solidFill>
              </a:rPr>
              <a:t>STEP 02</a:t>
            </a:r>
          </a:p>
        </p:txBody>
      </p:sp>
      <p:sp>
        <p:nvSpPr>
          <p:cNvPr id="14" name="TextBox 13"/>
          <p:cNvSpPr txBox="1"/>
          <p:nvPr/>
        </p:nvSpPr>
        <p:spPr>
          <a:xfrm>
            <a:off x="3429000" y="1810512"/>
            <a:ext cx="2578608" cy="365760"/>
          </a:xfrm>
          <a:prstGeom prst="rect">
            <a:avLst/>
          </a:prstGeom>
          <a:noFill/>
        </p:spPr>
        <p:txBody>
          <a:bodyPr wrap="square">
            <a:spAutoFit/>
          </a:bodyPr>
          <a:lstStyle/>
          <a:p>
            <a:pPr algn="ctr"/>
            <a:r>
              <a:rPr sz="1400" b="1" i="0">
                <a:solidFill>
                  <a:srgbClr val="00C8FF"/>
                </a:solidFill>
              </a:rPr>
              <a:t>Concept Mapping</a:t>
            </a:r>
          </a:p>
        </p:txBody>
      </p:sp>
      <p:sp>
        <p:nvSpPr>
          <p:cNvPr id="15" name="TextBox 14"/>
          <p:cNvSpPr txBox="1"/>
          <p:nvPr/>
        </p:nvSpPr>
        <p:spPr>
          <a:xfrm>
            <a:off x="3429000" y="2231136"/>
            <a:ext cx="2578608" cy="1828800"/>
          </a:xfrm>
          <a:prstGeom prst="rect">
            <a:avLst/>
          </a:prstGeom>
          <a:noFill/>
        </p:spPr>
        <p:txBody>
          <a:bodyPr wrap="square">
            <a:spAutoFit/>
          </a:bodyPr>
          <a:lstStyle/>
          <a:p>
            <a:pPr algn="ctr"/>
            <a:r>
              <a:rPr sz="1100" b="0" i="0">
                <a:solidFill>
                  <a:srgbClr val="CCD6E0"/>
                </a:solidFill>
              </a:rPr>
              <a:t>Vocab DB lookup
Word2Vec similarity
Semantic fallback
(concepts.py)</a:t>
            </a:r>
          </a:p>
        </p:txBody>
      </p:sp>
      <p:sp>
        <p:nvSpPr>
          <p:cNvPr id="16" name="TextBox 15"/>
          <p:cNvSpPr txBox="1"/>
          <p:nvPr/>
        </p:nvSpPr>
        <p:spPr>
          <a:xfrm>
            <a:off x="6135624" y="2423160"/>
            <a:ext cx="201168" cy="365760"/>
          </a:xfrm>
          <a:prstGeom prst="rect">
            <a:avLst/>
          </a:prstGeom>
          <a:noFill/>
        </p:spPr>
        <p:txBody>
          <a:bodyPr wrap="square">
            <a:spAutoFit/>
          </a:bodyPr>
          <a:lstStyle/>
          <a:p>
            <a:pPr algn="ctr"/>
            <a:r>
              <a:rPr sz="2000" b="1" i="0">
                <a:solidFill>
                  <a:srgbClr val="00C8FF"/>
                </a:solidFill>
              </a:rPr>
              <a:t>â†’</a:t>
            </a:r>
          </a:p>
        </p:txBody>
      </p:sp>
      <p:sp>
        <p:nvSpPr>
          <p:cNvPr id="17" name="Rectangle 16"/>
          <p:cNvSpPr/>
          <p:nvPr/>
        </p:nvSpPr>
        <p:spPr>
          <a:xfrm>
            <a:off x="6318504" y="1234440"/>
            <a:ext cx="2788920" cy="2926080"/>
          </a:xfrm>
          <a:prstGeom prst="rect">
            <a:avLst/>
          </a:prstGeom>
          <a:solidFill>
            <a:srgbClr val="1B3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18504" y="1234440"/>
            <a:ext cx="2788920" cy="475488"/>
          </a:xfrm>
          <a:prstGeom prst="rect">
            <a:avLst/>
          </a:prstGeom>
          <a:solidFill>
            <a:srgbClr val="14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18504" y="1252728"/>
            <a:ext cx="2788920" cy="457200"/>
          </a:xfrm>
          <a:prstGeom prst="rect">
            <a:avLst/>
          </a:prstGeom>
          <a:noFill/>
        </p:spPr>
        <p:txBody>
          <a:bodyPr wrap="square">
            <a:spAutoFit/>
          </a:bodyPr>
          <a:lstStyle/>
          <a:p>
            <a:pPr algn="ctr"/>
            <a:r>
              <a:rPr sz="1500" b="1" i="0">
                <a:solidFill>
                  <a:srgbClr val="FFFFFF"/>
                </a:solidFill>
              </a:rPr>
              <a:t>STEP 03</a:t>
            </a:r>
          </a:p>
        </p:txBody>
      </p:sp>
      <p:sp>
        <p:nvSpPr>
          <p:cNvPr id="20" name="TextBox 19"/>
          <p:cNvSpPr txBox="1"/>
          <p:nvPr/>
        </p:nvSpPr>
        <p:spPr>
          <a:xfrm>
            <a:off x="6428232" y="1810512"/>
            <a:ext cx="2578608" cy="365760"/>
          </a:xfrm>
          <a:prstGeom prst="rect">
            <a:avLst/>
          </a:prstGeom>
          <a:noFill/>
        </p:spPr>
        <p:txBody>
          <a:bodyPr wrap="square">
            <a:spAutoFit/>
          </a:bodyPr>
          <a:lstStyle/>
          <a:p>
            <a:pPr algn="ctr"/>
            <a:r>
              <a:rPr sz="1400" b="1" i="0">
                <a:solidFill>
                  <a:srgbClr val="00C8FF"/>
                </a:solidFill>
              </a:rPr>
              <a:t>Grammar Reorder</a:t>
            </a:r>
          </a:p>
        </p:txBody>
      </p:sp>
      <p:sp>
        <p:nvSpPr>
          <p:cNvPr id="21" name="TextBox 20"/>
          <p:cNvSpPr txBox="1"/>
          <p:nvPr/>
        </p:nvSpPr>
        <p:spPr>
          <a:xfrm>
            <a:off x="6428232" y="2231136"/>
            <a:ext cx="2578608" cy="1828800"/>
          </a:xfrm>
          <a:prstGeom prst="rect">
            <a:avLst/>
          </a:prstGeom>
          <a:noFill/>
        </p:spPr>
        <p:txBody>
          <a:bodyPr wrap="square">
            <a:spAutoFit/>
          </a:bodyPr>
          <a:lstStyle/>
          <a:p>
            <a:pPr algn="ctr"/>
            <a:r>
              <a:rPr sz="1100" b="0" i="0">
                <a:solidFill>
                  <a:srgbClr val="CCD6E0"/>
                </a:solidFill>
              </a:rPr>
              <a:t>Sinhala SVO â†’ SSL
SOV order
Context engine handles
negation &amp; tense</a:t>
            </a:r>
          </a:p>
        </p:txBody>
      </p:sp>
      <p:sp>
        <p:nvSpPr>
          <p:cNvPr id="22" name="TextBox 21"/>
          <p:cNvSpPr txBox="1"/>
          <p:nvPr/>
        </p:nvSpPr>
        <p:spPr>
          <a:xfrm>
            <a:off x="9134856" y="2423160"/>
            <a:ext cx="201168" cy="365760"/>
          </a:xfrm>
          <a:prstGeom prst="rect">
            <a:avLst/>
          </a:prstGeom>
          <a:noFill/>
        </p:spPr>
        <p:txBody>
          <a:bodyPr wrap="square">
            <a:spAutoFit/>
          </a:bodyPr>
          <a:lstStyle/>
          <a:p>
            <a:pPr algn="ctr"/>
            <a:r>
              <a:rPr sz="2000" b="1" i="0">
                <a:solidFill>
                  <a:srgbClr val="00C8FF"/>
                </a:solidFill>
              </a:rPr>
              <a:t>â†’</a:t>
            </a:r>
          </a:p>
        </p:txBody>
      </p:sp>
      <p:sp>
        <p:nvSpPr>
          <p:cNvPr id="23" name="Rectangle 22"/>
          <p:cNvSpPr/>
          <p:nvPr/>
        </p:nvSpPr>
        <p:spPr>
          <a:xfrm>
            <a:off x="9317736" y="1234440"/>
            <a:ext cx="2788920" cy="2926080"/>
          </a:xfrm>
          <a:prstGeom prst="rect">
            <a:avLst/>
          </a:prstGeom>
          <a:solidFill>
            <a:srgbClr val="1B3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317736" y="1234440"/>
            <a:ext cx="2788920" cy="475488"/>
          </a:xfrm>
          <a:prstGeom prst="rect">
            <a:avLst/>
          </a:prstGeom>
          <a:solidFill>
            <a:srgbClr val="14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17736" y="1252728"/>
            <a:ext cx="2788920" cy="457200"/>
          </a:xfrm>
          <a:prstGeom prst="rect">
            <a:avLst/>
          </a:prstGeom>
          <a:noFill/>
        </p:spPr>
        <p:txBody>
          <a:bodyPr wrap="square">
            <a:spAutoFit/>
          </a:bodyPr>
          <a:lstStyle/>
          <a:p>
            <a:pPr algn="ctr"/>
            <a:r>
              <a:rPr sz="1500" b="1" i="0">
                <a:solidFill>
                  <a:srgbClr val="FFFFFF"/>
                </a:solidFill>
              </a:rPr>
              <a:t>STEP 04</a:t>
            </a:r>
          </a:p>
        </p:txBody>
      </p:sp>
      <p:sp>
        <p:nvSpPr>
          <p:cNvPr id="26" name="TextBox 25"/>
          <p:cNvSpPr txBox="1"/>
          <p:nvPr/>
        </p:nvSpPr>
        <p:spPr>
          <a:xfrm>
            <a:off x="9427463" y="1810512"/>
            <a:ext cx="2578608" cy="365760"/>
          </a:xfrm>
          <a:prstGeom prst="rect">
            <a:avLst/>
          </a:prstGeom>
          <a:noFill/>
        </p:spPr>
        <p:txBody>
          <a:bodyPr wrap="square">
            <a:spAutoFit/>
          </a:bodyPr>
          <a:lstStyle/>
          <a:p>
            <a:pPr algn="ctr"/>
            <a:r>
              <a:rPr sz="1400" b="1" i="0">
                <a:solidFill>
                  <a:srgbClr val="00C8FF"/>
                </a:solidFill>
              </a:rPr>
              <a:t>Video Synthesis</a:t>
            </a:r>
          </a:p>
        </p:txBody>
      </p:sp>
      <p:sp>
        <p:nvSpPr>
          <p:cNvPr id="27" name="TextBox 26"/>
          <p:cNvSpPr txBox="1"/>
          <p:nvPr/>
        </p:nvSpPr>
        <p:spPr>
          <a:xfrm>
            <a:off x="9427463" y="2231136"/>
            <a:ext cx="2578608" cy="1828800"/>
          </a:xfrm>
          <a:prstGeom prst="rect">
            <a:avLst/>
          </a:prstGeom>
          <a:noFill/>
        </p:spPr>
        <p:txBody>
          <a:bodyPr wrap="square">
            <a:spAutoFit/>
          </a:bodyPr>
          <a:lstStyle/>
          <a:p>
            <a:pPr algn="ctr"/>
            <a:r>
              <a:rPr sz="1100" b="0" i="0">
                <a:solidFill>
                  <a:srgbClr val="CCD6E0"/>
                </a:solidFill>
              </a:rPr>
              <a:t>Concept â†’ MP4 clip
MoviePy concat
Export to /static
Return URL to UI</a:t>
            </a:r>
          </a:p>
        </p:txBody>
      </p:sp>
      <p:sp>
        <p:nvSpPr>
          <p:cNvPr id="28" name="Rectangle 27"/>
          <p:cNvSpPr/>
          <p:nvPr/>
        </p:nvSpPr>
        <p:spPr>
          <a:xfrm>
            <a:off x="320040" y="4315968"/>
            <a:ext cx="7223760" cy="1417320"/>
          </a:xfrm>
          <a:prstGeom prst="rect">
            <a:avLst/>
          </a:prstGeom>
          <a:solidFill>
            <a:srgbClr val="1B3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4370832"/>
            <a:ext cx="6949440" cy="329184"/>
          </a:xfrm>
          <a:prstGeom prst="rect">
            <a:avLst/>
          </a:prstGeom>
          <a:noFill/>
        </p:spPr>
        <p:txBody>
          <a:bodyPr wrap="square">
            <a:spAutoFit/>
          </a:bodyPr>
          <a:lstStyle/>
          <a:p>
            <a:pPr algn="l"/>
            <a:r>
              <a:rPr sz="1300" b="1" i="0">
                <a:solidFill>
                  <a:srgbClr val="00C8FF"/>
                </a:solidFill>
              </a:rPr>
              <a:t>Example Trace:  "à¶¸à¶¸ à¶œà·™à¶¯à¶» à¶ºà¶ºà·’"  (I go home)</a:t>
            </a:r>
          </a:p>
        </p:txBody>
      </p:sp>
      <p:sp>
        <p:nvSpPr>
          <p:cNvPr id="30" name="TextBox 29"/>
          <p:cNvSpPr txBox="1"/>
          <p:nvPr/>
        </p:nvSpPr>
        <p:spPr>
          <a:xfrm>
            <a:off x="457200" y="4800600"/>
            <a:ext cx="1188720" cy="292608"/>
          </a:xfrm>
          <a:prstGeom prst="rect">
            <a:avLst/>
          </a:prstGeom>
          <a:noFill/>
        </p:spPr>
        <p:txBody>
          <a:bodyPr wrap="square">
            <a:spAutoFit/>
          </a:bodyPr>
          <a:lstStyle/>
          <a:p>
            <a:pPr algn="l"/>
            <a:r>
              <a:rPr sz="1000" b="1" i="0">
                <a:solidFill>
                  <a:srgbClr val="FFD000"/>
                </a:solidFill>
              </a:rPr>
              <a:t>INPUT</a:t>
            </a:r>
          </a:p>
        </p:txBody>
      </p:sp>
      <p:sp>
        <p:nvSpPr>
          <p:cNvPr id="31" name="TextBox 30"/>
          <p:cNvSpPr txBox="1"/>
          <p:nvPr/>
        </p:nvSpPr>
        <p:spPr>
          <a:xfrm>
            <a:off x="1691640" y="4800600"/>
            <a:ext cx="5029200" cy="292608"/>
          </a:xfrm>
          <a:prstGeom prst="rect">
            <a:avLst/>
          </a:prstGeom>
          <a:noFill/>
        </p:spPr>
        <p:txBody>
          <a:bodyPr wrap="square">
            <a:spAutoFit/>
          </a:bodyPr>
          <a:lstStyle/>
          <a:p>
            <a:pPr algn="l"/>
            <a:r>
              <a:rPr sz="1000" b="0" i="0">
                <a:solidFill>
                  <a:srgbClr val="FFFFFF"/>
                </a:solidFill>
              </a:rPr>
              <a:t>"à¶¸à¶¸ à¶œà·™à¶¯à¶» à¶ºà¶ºà·’"</a:t>
            </a:r>
          </a:p>
        </p:txBody>
      </p:sp>
      <p:sp>
        <p:nvSpPr>
          <p:cNvPr id="32" name="TextBox 31"/>
          <p:cNvSpPr txBox="1"/>
          <p:nvPr/>
        </p:nvSpPr>
        <p:spPr>
          <a:xfrm>
            <a:off x="457200" y="4800600"/>
            <a:ext cx="1188720" cy="292608"/>
          </a:xfrm>
          <a:prstGeom prst="rect">
            <a:avLst/>
          </a:prstGeom>
          <a:noFill/>
        </p:spPr>
        <p:txBody>
          <a:bodyPr wrap="square">
            <a:spAutoFit/>
          </a:bodyPr>
          <a:lstStyle/>
          <a:p>
            <a:pPr algn="l"/>
            <a:r>
              <a:rPr sz="1000" b="1" i="0">
                <a:solidFill>
                  <a:srgbClr val="FFD000"/>
                </a:solidFill>
              </a:rPr>
              <a:t>TOKENS</a:t>
            </a:r>
          </a:p>
        </p:txBody>
      </p:sp>
      <p:sp>
        <p:nvSpPr>
          <p:cNvPr id="33" name="TextBox 32"/>
          <p:cNvSpPr txBox="1"/>
          <p:nvPr/>
        </p:nvSpPr>
        <p:spPr>
          <a:xfrm>
            <a:off x="1691640" y="4800600"/>
            <a:ext cx="5029200" cy="292608"/>
          </a:xfrm>
          <a:prstGeom prst="rect">
            <a:avLst/>
          </a:prstGeom>
          <a:noFill/>
        </p:spPr>
        <p:txBody>
          <a:bodyPr wrap="square">
            <a:spAutoFit/>
          </a:bodyPr>
          <a:lstStyle/>
          <a:p>
            <a:pPr algn="l"/>
            <a:r>
              <a:rPr sz="1000" b="0" i="0">
                <a:solidFill>
                  <a:srgbClr val="FFFFFF"/>
                </a:solidFill>
              </a:rPr>
              <a:t>à¶¸à¶¸ | à¶œà·™à¶¯à¶» | à¶ºà¶ºà·’</a:t>
            </a:r>
          </a:p>
        </p:txBody>
      </p:sp>
      <p:sp>
        <p:nvSpPr>
          <p:cNvPr id="34" name="TextBox 33"/>
          <p:cNvSpPr txBox="1"/>
          <p:nvPr/>
        </p:nvSpPr>
        <p:spPr>
          <a:xfrm>
            <a:off x="457200" y="4800600"/>
            <a:ext cx="1188720" cy="292608"/>
          </a:xfrm>
          <a:prstGeom prst="rect">
            <a:avLst/>
          </a:prstGeom>
          <a:noFill/>
        </p:spPr>
        <p:txBody>
          <a:bodyPr wrap="square">
            <a:spAutoFit/>
          </a:bodyPr>
          <a:lstStyle/>
          <a:p>
            <a:pPr algn="l"/>
            <a:r>
              <a:rPr sz="1000" b="1" i="0">
                <a:solidFill>
                  <a:srgbClr val="FFD000"/>
                </a:solidFill>
              </a:rPr>
              <a:t>CONCEPTS</a:t>
            </a:r>
          </a:p>
        </p:txBody>
      </p:sp>
      <p:sp>
        <p:nvSpPr>
          <p:cNvPr id="35" name="TextBox 34"/>
          <p:cNvSpPr txBox="1"/>
          <p:nvPr/>
        </p:nvSpPr>
        <p:spPr>
          <a:xfrm>
            <a:off x="1691640" y="4800600"/>
            <a:ext cx="5029200" cy="292608"/>
          </a:xfrm>
          <a:prstGeom prst="rect">
            <a:avLst/>
          </a:prstGeom>
          <a:noFill/>
        </p:spPr>
        <p:txBody>
          <a:bodyPr wrap="square">
            <a:spAutoFit/>
          </a:bodyPr>
          <a:lstStyle/>
          <a:p>
            <a:pPr algn="l"/>
            <a:r>
              <a:rPr sz="1000" b="0" i="0">
                <a:solidFill>
                  <a:srgbClr val="FFFFFF"/>
                </a:solidFill>
              </a:rPr>
              <a:t>CONCEPT_ME â†’ CONCEPT_HOME â†’ CONCEPT_GO</a:t>
            </a:r>
          </a:p>
        </p:txBody>
      </p:sp>
      <p:sp>
        <p:nvSpPr>
          <p:cNvPr id="36" name="TextBox 35"/>
          <p:cNvSpPr txBox="1"/>
          <p:nvPr/>
        </p:nvSpPr>
        <p:spPr>
          <a:xfrm>
            <a:off x="457200" y="4800600"/>
            <a:ext cx="1188720" cy="292608"/>
          </a:xfrm>
          <a:prstGeom prst="rect">
            <a:avLst/>
          </a:prstGeom>
          <a:noFill/>
        </p:spPr>
        <p:txBody>
          <a:bodyPr wrap="square">
            <a:spAutoFit/>
          </a:bodyPr>
          <a:lstStyle/>
          <a:p>
            <a:pPr algn="l"/>
            <a:r>
              <a:rPr sz="1000" b="1" i="0">
                <a:solidFill>
                  <a:srgbClr val="FFD000"/>
                </a:solidFill>
              </a:rPr>
              <a:t>OUTPUT</a:t>
            </a:r>
          </a:p>
        </p:txBody>
      </p:sp>
      <p:sp>
        <p:nvSpPr>
          <p:cNvPr id="37" name="TextBox 36"/>
          <p:cNvSpPr txBox="1"/>
          <p:nvPr/>
        </p:nvSpPr>
        <p:spPr>
          <a:xfrm>
            <a:off x="1691640" y="4800600"/>
            <a:ext cx="5029200" cy="292608"/>
          </a:xfrm>
          <a:prstGeom prst="rect">
            <a:avLst/>
          </a:prstGeom>
          <a:noFill/>
        </p:spPr>
        <p:txBody>
          <a:bodyPr wrap="square">
            <a:spAutoFit/>
          </a:bodyPr>
          <a:lstStyle/>
          <a:p>
            <a:pPr algn="l"/>
            <a:r>
              <a:rPr sz="1000" b="0" i="0">
                <a:solidFill>
                  <a:srgbClr val="FFFFFF"/>
                </a:solidFill>
              </a:rPr>
              <a:t>3 MP4 clips â†’ concatenated SSL animation</a:t>
            </a:r>
          </a:p>
        </p:txBody>
      </p:sp>
      <p:sp>
        <p:nvSpPr>
          <p:cNvPr id="38" name="TextBox 37"/>
          <p:cNvSpPr txBox="1"/>
          <p:nvPr/>
        </p:nvSpPr>
        <p:spPr>
          <a:xfrm>
            <a:off x="457200" y="4754880"/>
            <a:ext cx="1325880" cy="256032"/>
          </a:xfrm>
          <a:prstGeom prst="rect">
            <a:avLst/>
          </a:prstGeom>
          <a:noFill/>
        </p:spPr>
        <p:txBody>
          <a:bodyPr wrap="square">
            <a:spAutoFit/>
          </a:bodyPr>
          <a:lstStyle/>
          <a:p>
            <a:pPr algn="l"/>
            <a:r>
              <a:rPr sz="1000" b="1" i="0">
                <a:solidFill>
                  <a:srgbClr val="FFD000"/>
                </a:solidFill>
              </a:rPr>
              <a:t>INPUT:</a:t>
            </a:r>
          </a:p>
        </p:txBody>
      </p:sp>
      <p:sp>
        <p:nvSpPr>
          <p:cNvPr id="39" name="TextBox 38"/>
          <p:cNvSpPr txBox="1"/>
          <p:nvPr/>
        </p:nvSpPr>
        <p:spPr>
          <a:xfrm>
            <a:off x="1828800" y="4754880"/>
            <a:ext cx="5577840" cy="256032"/>
          </a:xfrm>
          <a:prstGeom prst="rect">
            <a:avLst/>
          </a:prstGeom>
          <a:noFill/>
        </p:spPr>
        <p:txBody>
          <a:bodyPr wrap="square">
            <a:spAutoFit/>
          </a:bodyPr>
          <a:lstStyle/>
          <a:p>
            <a:pPr algn="l"/>
            <a:r>
              <a:rPr sz="1000" b="0" i="0">
                <a:solidFill>
                  <a:srgbClr val="FFFFFF"/>
                </a:solidFill>
              </a:rPr>
              <a:t>"à¶¸à¶¸ à¶œà·™à¶¯à¶» ã‚„ã‚„ã„"</a:t>
            </a:r>
          </a:p>
        </p:txBody>
      </p:sp>
      <p:sp>
        <p:nvSpPr>
          <p:cNvPr id="40" name="TextBox 39"/>
          <p:cNvSpPr txBox="1"/>
          <p:nvPr/>
        </p:nvSpPr>
        <p:spPr>
          <a:xfrm>
            <a:off x="457200" y="5029200"/>
            <a:ext cx="1325880" cy="256032"/>
          </a:xfrm>
          <a:prstGeom prst="rect">
            <a:avLst/>
          </a:prstGeom>
          <a:noFill/>
        </p:spPr>
        <p:txBody>
          <a:bodyPr wrap="square">
            <a:spAutoFit/>
          </a:bodyPr>
          <a:lstStyle/>
          <a:p>
            <a:pPr algn="l"/>
            <a:r>
              <a:rPr sz="1000" b="1" i="0">
                <a:solidFill>
                  <a:srgbClr val="FFD000"/>
                </a:solidFill>
              </a:rPr>
              <a:t>TOKENS:</a:t>
            </a:r>
          </a:p>
        </p:txBody>
      </p:sp>
      <p:sp>
        <p:nvSpPr>
          <p:cNvPr id="41" name="TextBox 40"/>
          <p:cNvSpPr txBox="1"/>
          <p:nvPr/>
        </p:nvSpPr>
        <p:spPr>
          <a:xfrm>
            <a:off x="1828800" y="5029200"/>
            <a:ext cx="5577840" cy="256032"/>
          </a:xfrm>
          <a:prstGeom prst="rect">
            <a:avLst/>
          </a:prstGeom>
          <a:noFill/>
        </p:spPr>
        <p:txBody>
          <a:bodyPr wrap="square">
            <a:spAutoFit/>
          </a:bodyPr>
          <a:lstStyle/>
          <a:p>
            <a:pPr algn="l"/>
            <a:r>
              <a:rPr sz="1000" b="0" i="0">
                <a:solidFill>
                  <a:srgbClr val="FFFFFF"/>
                </a:solidFill>
              </a:rPr>
              <a:t>à¶¸à¶¸  |  à¶œà·™à¶¯à¶»  |  à¶ºà¶ºà·’</a:t>
            </a:r>
          </a:p>
        </p:txBody>
      </p:sp>
      <p:sp>
        <p:nvSpPr>
          <p:cNvPr id="42" name="TextBox 41"/>
          <p:cNvSpPr txBox="1"/>
          <p:nvPr/>
        </p:nvSpPr>
        <p:spPr>
          <a:xfrm>
            <a:off x="457200" y="5303520"/>
            <a:ext cx="1325880" cy="256032"/>
          </a:xfrm>
          <a:prstGeom prst="rect">
            <a:avLst/>
          </a:prstGeom>
          <a:noFill/>
        </p:spPr>
        <p:txBody>
          <a:bodyPr wrap="square">
            <a:spAutoFit/>
          </a:bodyPr>
          <a:lstStyle/>
          <a:p>
            <a:pPr algn="l"/>
            <a:r>
              <a:rPr sz="1000" b="1" i="0">
                <a:solidFill>
                  <a:srgbClr val="FFD000"/>
                </a:solidFill>
              </a:rPr>
              <a:t>CONCEPTS:</a:t>
            </a:r>
          </a:p>
        </p:txBody>
      </p:sp>
      <p:sp>
        <p:nvSpPr>
          <p:cNvPr id="43" name="TextBox 42"/>
          <p:cNvSpPr txBox="1"/>
          <p:nvPr/>
        </p:nvSpPr>
        <p:spPr>
          <a:xfrm>
            <a:off x="1828800" y="5303520"/>
            <a:ext cx="5577840" cy="256032"/>
          </a:xfrm>
          <a:prstGeom prst="rect">
            <a:avLst/>
          </a:prstGeom>
          <a:noFill/>
        </p:spPr>
        <p:txBody>
          <a:bodyPr wrap="square">
            <a:spAutoFit/>
          </a:bodyPr>
          <a:lstStyle/>
          <a:p>
            <a:pPr algn="l"/>
            <a:r>
              <a:rPr sz="1000" b="0" i="0">
                <a:solidFill>
                  <a:srgbClr val="FFFFFF"/>
                </a:solidFill>
              </a:rPr>
              <a:t>CONCEPT_ME â†’ CONCEPT_HOME â†’ CONCEPT_GO</a:t>
            </a:r>
          </a:p>
        </p:txBody>
      </p:sp>
      <p:sp>
        <p:nvSpPr>
          <p:cNvPr id="44" name="TextBox 43"/>
          <p:cNvSpPr txBox="1"/>
          <p:nvPr/>
        </p:nvSpPr>
        <p:spPr>
          <a:xfrm>
            <a:off x="457200" y="5577840"/>
            <a:ext cx="1325880" cy="256032"/>
          </a:xfrm>
          <a:prstGeom prst="rect">
            <a:avLst/>
          </a:prstGeom>
          <a:noFill/>
        </p:spPr>
        <p:txBody>
          <a:bodyPr wrap="square">
            <a:spAutoFit/>
          </a:bodyPr>
          <a:lstStyle/>
          <a:p>
            <a:pPr algn="l"/>
            <a:r>
              <a:rPr sz="1000" b="1" i="0">
                <a:solidFill>
                  <a:srgbClr val="FFD000"/>
                </a:solidFill>
              </a:rPr>
              <a:t>OUTPUT:</a:t>
            </a:r>
          </a:p>
        </p:txBody>
      </p:sp>
      <p:sp>
        <p:nvSpPr>
          <p:cNvPr id="45" name="TextBox 44"/>
          <p:cNvSpPr txBox="1"/>
          <p:nvPr/>
        </p:nvSpPr>
        <p:spPr>
          <a:xfrm>
            <a:off x="1828800" y="5577840"/>
            <a:ext cx="5577840" cy="256032"/>
          </a:xfrm>
          <a:prstGeom prst="rect">
            <a:avLst/>
          </a:prstGeom>
          <a:noFill/>
        </p:spPr>
        <p:txBody>
          <a:bodyPr wrap="square">
            <a:spAutoFit/>
          </a:bodyPr>
          <a:lstStyle/>
          <a:p>
            <a:pPr algn="l"/>
            <a:r>
              <a:rPr sz="1000" b="0" i="0">
                <a:solidFill>
                  <a:srgbClr val="FFFFFF"/>
                </a:solidFill>
              </a:rPr>
              <a:t>3 MP4 clips concatenated â†’ SSL animation video</a:t>
            </a:r>
          </a:p>
        </p:txBody>
      </p:sp>
      <p:sp>
        <p:nvSpPr>
          <p:cNvPr id="46" name="Rectangle 45"/>
          <p:cNvSpPr/>
          <p:nvPr/>
        </p:nvSpPr>
        <p:spPr>
          <a:xfrm>
            <a:off x="7726679" y="4315968"/>
            <a:ext cx="4297680" cy="1417320"/>
          </a:xfrm>
          <a:prstGeom prst="rect">
            <a:avLst/>
          </a:prstGeom>
          <a:solidFill>
            <a:srgbClr val="1B3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863840" y="4370832"/>
            <a:ext cx="4023360" cy="320040"/>
          </a:xfrm>
          <a:prstGeom prst="rect">
            <a:avLst/>
          </a:prstGeom>
          <a:noFill/>
        </p:spPr>
        <p:txBody>
          <a:bodyPr wrap="square">
            <a:spAutoFit/>
          </a:bodyPr>
          <a:lstStyle/>
          <a:p>
            <a:pPr algn="l"/>
            <a:r>
              <a:rPr sz="1300" b="1" i="0">
                <a:solidFill>
                  <a:srgbClr val="00C8FF"/>
                </a:solidFill>
              </a:rPr>
              <a:t>Concept Database</a:t>
            </a:r>
          </a:p>
        </p:txBody>
      </p:sp>
      <p:sp>
        <p:nvSpPr>
          <p:cNvPr id="48" name="TextBox 47"/>
          <p:cNvSpPr txBox="1"/>
          <p:nvPr/>
        </p:nvSpPr>
        <p:spPr>
          <a:xfrm>
            <a:off x="7863840" y="4754880"/>
            <a:ext cx="4023360" cy="256032"/>
          </a:xfrm>
          <a:prstGeom prst="rect">
            <a:avLst/>
          </a:prstGeom>
          <a:noFill/>
        </p:spPr>
        <p:txBody>
          <a:bodyPr wrap="square">
            <a:spAutoFit/>
          </a:bodyPr>
          <a:lstStyle/>
          <a:p>
            <a:pPr algn="l"/>
            <a:r>
              <a:rPr sz="1000" b="0" i="0">
                <a:solidFill>
                  <a:srgbClr val="FFFFFF"/>
                </a:solidFill>
              </a:rPr>
              <a:t>â–¸  750+ SSL signs  Â·  16 categories</a:t>
            </a:r>
          </a:p>
        </p:txBody>
      </p:sp>
      <p:sp>
        <p:nvSpPr>
          <p:cNvPr id="49" name="TextBox 48"/>
          <p:cNvSpPr txBox="1"/>
          <p:nvPr/>
        </p:nvSpPr>
        <p:spPr>
          <a:xfrm>
            <a:off x="7863840" y="5029200"/>
            <a:ext cx="4023360" cy="256032"/>
          </a:xfrm>
          <a:prstGeom prst="rect">
            <a:avLst/>
          </a:prstGeom>
          <a:noFill/>
        </p:spPr>
        <p:txBody>
          <a:bodyPr wrap="square">
            <a:spAutoFit/>
          </a:bodyPr>
          <a:lstStyle/>
          <a:p>
            <a:pPr algn="l"/>
            <a:r>
              <a:rPr sz="1000" b="0" i="0">
                <a:solidFill>
                  <a:srgbClr val="FFFFFF"/>
                </a:solidFill>
              </a:rPr>
              <a:t>â–¸  Nouns (450+)  Â·  Verbs (180+)  Â·  Adjectives (120+)</a:t>
            </a:r>
          </a:p>
        </p:txBody>
      </p:sp>
      <p:sp>
        <p:nvSpPr>
          <p:cNvPr id="50" name="TextBox 49"/>
          <p:cNvSpPr txBox="1"/>
          <p:nvPr/>
        </p:nvSpPr>
        <p:spPr>
          <a:xfrm>
            <a:off x="7863840" y="5303520"/>
            <a:ext cx="4023360" cy="256032"/>
          </a:xfrm>
          <a:prstGeom prst="rect">
            <a:avLst/>
          </a:prstGeom>
          <a:noFill/>
        </p:spPr>
        <p:txBody>
          <a:bodyPr wrap="square">
            <a:spAutoFit/>
          </a:bodyPr>
          <a:lstStyle/>
          <a:p>
            <a:pPr algn="l"/>
            <a:r>
              <a:rPr sz="1000" b="0" i="0">
                <a:solidFill>
                  <a:srgbClr val="FFFFFF"/>
                </a:solidFill>
              </a:rPr>
              <a:t>â–¸  Numbers, Colors, Days, People, Placesâ€¦</a:t>
            </a:r>
          </a:p>
        </p:txBody>
      </p:sp>
      <p:sp>
        <p:nvSpPr>
          <p:cNvPr id="51" name="TextBox 50"/>
          <p:cNvSpPr txBox="1"/>
          <p:nvPr/>
        </p:nvSpPr>
        <p:spPr>
          <a:xfrm>
            <a:off x="7863840" y="5577840"/>
            <a:ext cx="4023360" cy="256032"/>
          </a:xfrm>
          <a:prstGeom prst="rect">
            <a:avLst/>
          </a:prstGeom>
          <a:noFill/>
        </p:spPr>
        <p:txBody>
          <a:bodyPr wrap="square">
            <a:spAutoFit/>
          </a:bodyPr>
          <a:lstStyle/>
          <a:p>
            <a:pPr algn="l"/>
            <a:r>
              <a:rPr sz="1000" b="0" i="0">
                <a:solidFill>
                  <a:srgbClr val="FFFFFF"/>
                </a:solidFill>
              </a:rPr>
              <a:t>â–¸  Native signer MP4 recordings per concept</a:t>
            </a:r>
          </a:p>
        </p:txBody>
      </p:sp>
      <p:sp>
        <p:nvSpPr>
          <p:cNvPr id="52" name="TextBox 51"/>
          <p:cNvSpPr txBox="1"/>
          <p:nvPr/>
        </p:nvSpPr>
        <p:spPr>
          <a:xfrm>
            <a:off x="320040" y="5870448"/>
            <a:ext cx="11548872" cy="292608"/>
          </a:xfrm>
          <a:prstGeom prst="rect">
            <a:avLst/>
          </a:prstGeom>
          <a:noFill/>
        </p:spPr>
        <p:txBody>
          <a:bodyPr wrap="square">
            <a:spAutoFit/>
          </a:bodyPr>
          <a:lstStyle/>
          <a:p>
            <a:pPr algn="ctr"/>
            <a:r>
              <a:rPr sz="1000" b="0" i="0">
                <a:solidFill>
                  <a:srgbClr val="FFD000"/>
                </a:solidFill>
              </a:rPr>
              <a:t>KEY TECH:  sinling  Â·  Word2Vec  Â·  concepts.py  Â·  context_engine.py  Â·  MoviePy  Â·  Flask REST  POST /translate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57200" y="228600"/>
            <a:ext cx="11274552" cy="685800"/>
          </a:xfrm>
          <a:prstGeom prst="rect">
            <a:avLst/>
          </a:prstGeom>
          <a:noFill/>
        </p:spPr>
        <p:txBody>
          <a:bodyPr wrap="square">
            <a:spAutoFit/>
          </a:bodyPr>
          <a:lstStyle/>
          <a:p>
            <a:pPr algn="l"/>
            <a:r>
              <a:rPr sz="3000" b="1" i="0">
                <a:solidFill>
                  <a:srgbClr val="00C8FF"/>
                </a:solidFill>
              </a:rPr>
              <a:t>Results, Challenges &amp; Conclusion</a:t>
            </a:r>
          </a:p>
        </p:txBody>
      </p:sp>
      <p:sp>
        <p:nvSpPr>
          <p:cNvPr id="3" name="Rectangle 2"/>
          <p:cNvSpPr/>
          <p:nvPr/>
        </p:nvSpPr>
        <p:spPr>
          <a:xfrm>
            <a:off x="457200" y="960120"/>
            <a:ext cx="11274552" cy="36576"/>
          </a:xfrm>
          <a:prstGeom prst="rect">
            <a:avLst/>
          </a:prstGeom>
          <a:solidFill>
            <a:srgbClr val="00C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20040" y="1188720"/>
            <a:ext cx="2240280" cy="1371600"/>
          </a:xfrm>
          <a:prstGeom prst="rect">
            <a:avLst/>
          </a:prstGeom>
          <a:solidFill>
            <a:srgbClr val="1B3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298448"/>
            <a:ext cx="2240280" cy="658368"/>
          </a:xfrm>
          <a:prstGeom prst="rect">
            <a:avLst/>
          </a:prstGeom>
          <a:noFill/>
        </p:spPr>
        <p:txBody>
          <a:bodyPr wrap="square">
            <a:spAutoFit/>
          </a:bodyPr>
          <a:lstStyle/>
          <a:p>
            <a:pPr algn="ctr"/>
            <a:r>
              <a:rPr sz="3000" b="1" i="0">
                <a:solidFill>
                  <a:srgbClr val="22C55E"/>
                </a:solidFill>
              </a:rPr>
              <a:t>87%</a:t>
            </a:r>
          </a:p>
        </p:txBody>
      </p:sp>
      <p:sp>
        <p:nvSpPr>
          <p:cNvPr id="6" name="TextBox 5"/>
          <p:cNvSpPr txBox="1"/>
          <p:nvPr/>
        </p:nvSpPr>
        <p:spPr>
          <a:xfrm>
            <a:off x="393192" y="1975104"/>
            <a:ext cx="2103120" cy="475488"/>
          </a:xfrm>
          <a:prstGeom prst="rect">
            <a:avLst/>
          </a:prstGeom>
          <a:noFill/>
        </p:spPr>
        <p:txBody>
          <a:bodyPr wrap="square">
            <a:spAutoFit/>
          </a:bodyPr>
          <a:lstStyle/>
          <a:p>
            <a:pPr algn="ctr"/>
            <a:r>
              <a:rPr sz="1100" b="0" i="0">
                <a:solidFill>
                  <a:srgbClr val="CCD6E0"/>
                </a:solidFill>
              </a:rPr>
              <a:t>Concept
Resolution</a:t>
            </a:r>
          </a:p>
        </p:txBody>
      </p:sp>
      <p:sp>
        <p:nvSpPr>
          <p:cNvPr id="7" name="Rectangle 6"/>
          <p:cNvSpPr/>
          <p:nvPr/>
        </p:nvSpPr>
        <p:spPr>
          <a:xfrm>
            <a:off x="2679192" y="1188720"/>
            <a:ext cx="2240280" cy="1371600"/>
          </a:xfrm>
          <a:prstGeom prst="rect">
            <a:avLst/>
          </a:prstGeom>
          <a:solidFill>
            <a:srgbClr val="1B3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79192" y="1298448"/>
            <a:ext cx="2240280" cy="658368"/>
          </a:xfrm>
          <a:prstGeom prst="rect">
            <a:avLst/>
          </a:prstGeom>
          <a:noFill/>
        </p:spPr>
        <p:txBody>
          <a:bodyPr wrap="square">
            <a:spAutoFit/>
          </a:bodyPr>
          <a:lstStyle/>
          <a:p>
            <a:pPr algn="ctr"/>
            <a:r>
              <a:rPr sz="3000" b="1" i="0">
                <a:solidFill>
                  <a:srgbClr val="00C8FF"/>
                </a:solidFill>
              </a:rPr>
              <a:t>92%</a:t>
            </a:r>
          </a:p>
        </p:txBody>
      </p:sp>
      <p:sp>
        <p:nvSpPr>
          <p:cNvPr id="9" name="TextBox 8"/>
          <p:cNvSpPr txBox="1"/>
          <p:nvPr/>
        </p:nvSpPr>
        <p:spPr>
          <a:xfrm>
            <a:off x="2752344" y="1975104"/>
            <a:ext cx="2103120" cy="475488"/>
          </a:xfrm>
          <a:prstGeom prst="rect">
            <a:avLst/>
          </a:prstGeom>
          <a:noFill/>
        </p:spPr>
        <p:txBody>
          <a:bodyPr wrap="square">
            <a:spAutoFit/>
          </a:bodyPr>
          <a:lstStyle/>
          <a:p>
            <a:pPr algn="ctr"/>
            <a:r>
              <a:rPr sz="1100" b="0" i="0">
                <a:solidFill>
                  <a:srgbClr val="CCD6E0"/>
                </a:solidFill>
              </a:rPr>
              <a:t>Tokenisation
Accuracy</a:t>
            </a:r>
          </a:p>
        </p:txBody>
      </p:sp>
      <p:sp>
        <p:nvSpPr>
          <p:cNvPr id="10" name="Rectangle 9"/>
          <p:cNvSpPr/>
          <p:nvPr/>
        </p:nvSpPr>
        <p:spPr>
          <a:xfrm>
            <a:off x="5038344" y="1188720"/>
            <a:ext cx="2240280" cy="1371600"/>
          </a:xfrm>
          <a:prstGeom prst="rect">
            <a:avLst/>
          </a:prstGeom>
          <a:solidFill>
            <a:srgbClr val="1B3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38344" y="1298448"/>
            <a:ext cx="2240280" cy="658368"/>
          </a:xfrm>
          <a:prstGeom prst="rect">
            <a:avLst/>
          </a:prstGeom>
          <a:noFill/>
        </p:spPr>
        <p:txBody>
          <a:bodyPr wrap="square">
            <a:spAutoFit/>
          </a:bodyPr>
          <a:lstStyle/>
          <a:p>
            <a:pPr algn="ctr"/>
            <a:r>
              <a:rPr sz="3000" b="1" i="0">
                <a:solidFill>
                  <a:srgbClr val="FFD000"/>
                </a:solidFill>
              </a:rPr>
              <a:t>â‰¤ 2s</a:t>
            </a:r>
          </a:p>
        </p:txBody>
      </p:sp>
      <p:sp>
        <p:nvSpPr>
          <p:cNvPr id="12" name="TextBox 11"/>
          <p:cNvSpPr txBox="1"/>
          <p:nvPr/>
        </p:nvSpPr>
        <p:spPr>
          <a:xfrm>
            <a:off x="5111496" y="1975104"/>
            <a:ext cx="2103120" cy="475488"/>
          </a:xfrm>
          <a:prstGeom prst="rect">
            <a:avLst/>
          </a:prstGeom>
          <a:noFill/>
        </p:spPr>
        <p:txBody>
          <a:bodyPr wrap="square">
            <a:spAutoFit/>
          </a:bodyPr>
          <a:lstStyle/>
          <a:p>
            <a:pPr algn="ctr"/>
            <a:r>
              <a:rPr sz="1100" b="0" i="0">
                <a:solidFill>
                  <a:srgbClr val="CCD6E0"/>
                </a:solidFill>
              </a:rPr>
              <a:t>End-to-End
Latency</a:t>
            </a:r>
          </a:p>
        </p:txBody>
      </p:sp>
      <p:sp>
        <p:nvSpPr>
          <p:cNvPr id="13" name="Rectangle 12"/>
          <p:cNvSpPr/>
          <p:nvPr/>
        </p:nvSpPr>
        <p:spPr>
          <a:xfrm>
            <a:off x="7397496" y="1188720"/>
            <a:ext cx="2240280" cy="1371600"/>
          </a:xfrm>
          <a:prstGeom prst="rect">
            <a:avLst/>
          </a:prstGeom>
          <a:solidFill>
            <a:srgbClr val="1B3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97496" y="1298448"/>
            <a:ext cx="2240280" cy="658368"/>
          </a:xfrm>
          <a:prstGeom prst="rect">
            <a:avLst/>
          </a:prstGeom>
          <a:noFill/>
        </p:spPr>
        <p:txBody>
          <a:bodyPr wrap="square">
            <a:spAutoFit/>
          </a:bodyPr>
          <a:lstStyle/>
          <a:p>
            <a:pPr algn="ctr"/>
            <a:r>
              <a:rPr sz="3000" b="1" i="0">
                <a:solidFill>
                  <a:srgbClr val="22C55E"/>
                </a:solidFill>
              </a:rPr>
              <a:t>750+</a:t>
            </a:r>
          </a:p>
        </p:txBody>
      </p:sp>
      <p:sp>
        <p:nvSpPr>
          <p:cNvPr id="15" name="TextBox 14"/>
          <p:cNvSpPr txBox="1"/>
          <p:nvPr/>
        </p:nvSpPr>
        <p:spPr>
          <a:xfrm>
            <a:off x="7470648" y="1975104"/>
            <a:ext cx="2103120" cy="475488"/>
          </a:xfrm>
          <a:prstGeom prst="rect">
            <a:avLst/>
          </a:prstGeom>
          <a:noFill/>
        </p:spPr>
        <p:txBody>
          <a:bodyPr wrap="square">
            <a:spAutoFit/>
          </a:bodyPr>
          <a:lstStyle/>
          <a:p>
            <a:pPr algn="ctr"/>
            <a:r>
              <a:rPr sz="1100" b="0" i="0">
                <a:solidFill>
                  <a:srgbClr val="CCD6E0"/>
                </a:solidFill>
              </a:rPr>
              <a:t>SSL Concepts
Covered</a:t>
            </a:r>
          </a:p>
        </p:txBody>
      </p:sp>
      <p:sp>
        <p:nvSpPr>
          <p:cNvPr id="16" name="Rectangle 15"/>
          <p:cNvSpPr/>
          <p:nvPr/>
        </p:nvSpPr>
        <p:spPr>
          <a:xfrm>
            <a:off x="9756648" y="1188720"/>
            <a:ext cx="2240280" cy="1371600"/>
          </a:xfrm>
          <a:prstGeom prst="rect">
            <a:avLst/>
          </a:prstGeom>
          <a:solidFill>
            <a:srgbClr val="1B3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56648" y="1298448"/>
            <a:ext cx="2240280" cy="658368"/>
          </a:xfrm>
          <a:prstGeom prst="rect">
            <a:avLst/>
          </a:prstGeom>
          <a:noFill/>
        </p:spPr>
        <p:txBody>
          <a:bodyPr wrap="square">
            <a:spAutoFit/>
          </a:bodyPr>
          <a:lstStyle/>
          <a:p>
            <a:pPr algn="ctr"/>
            <a:r>
              <a:rPr sz="3000" b="1" i="0">
                <a:solidFill>
                  <a:srgbClr val="00C8FF"/>
                </a:solidFill>
              </a:rPr>
              <a:t>200+</a:t>
            </a:r>
          </a:p>
        </p:txBody>
      </p:sp>
      <p:sp>
        <p:nvSpPr>
          <p:cNvPr id="18" name="TextBox 17"/>
          <p:cNvSpPr txBox="1"/>
          <p:nvPr/>
        </p:nvSpPr>
        <p:spPr>
          <a:xfrm>
            <a:off x="9829800" y="1975104"/>
            <a:ext cx="2103120" cy="475488"/>
          </a:xfrm>
          <a:prstGeom prst="rect">
            <a:avLst/>
          </a:prstGeom>
          <a:noFill/>
        </p:spPr>
        <p:txBody>
          <a:bodyPr wrap="square">
            <a:spAutoFit/>
          </a:bodyPr>
          <a:lstStyle/>
          <a:p>
            <a:pPr algn="ctr"/>
            <a:r>
              <a:rPr sz="1100" b="0" i="0">
                <a:solidFill>
                  <a:srgbClr val="CCD6E0"/>
                </a:solidFill>
              </a:rPr>
              <a:t>Sinhala Phrases
Unit-Tested</a:t>
            </a:r>
          </a:p>
        </p:txBody>
      </p:sp>
      <p:sp>
        <p:nvSpPr>
          <p:cNvPr id="19" name="Rectangle 18"/>
          <p:cNvSpPr/>
          <p:nvPr/>
        </p:nvSpPr>
        <p:spPr>
          <a:xfrm>
            <a:off x="320040" y="2743200"/>
            <a:ext cx="5577840" cy="1920240"/>
          </a:xfrm>
          <a:prstGeom prst="rect">
            <a:avLst/>
          </a:prstGeom>
          <a:solidFill>
            <a:srgbClr val="1B3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4632" y="2852928"/>
            <a:ext cx="5248655" cy="320040"/>
          </a:xfrm>
          <a:prstGeom prst="rect">
            <a:avLst/>
          </a:prstGeom>
          <a:noFill/>
        </p:spPr>
        <p:txBody>
          <a:bodyPr wrap="square">
            <a:spAutoFit/>
          </a:bodyPr>
          <a:lstStyle/>
          <a:p>
            <a:pPr algn="l"/>
            <a:r>
              <a:rPr sz="1300" b="1" i="0">
                <a:solidFill>
                  <a:srgbClr val="00C8FF"/>
                </a:solidFill>
              </a:rPr>
              <a:t>Challenges &amp; Solutions</a:t>
            </a:r>
          </a:p>
        </p:txBody>
      </p:sp>
      <p:sp>
        <p:nvSpPr>
          <p:cNvPr id="21" name="TextBox 20"/>
          <p:cNvSpPr txBox="1"/>
          <p:nvPr/>
        </p:nvSpPr>
        <p:spPr>
          <a:xfrm>
            <a:off x="429768" y="3200400"/>
            <a:ext cx="228600" cy="292608"/>
          </a:xfrm>
          <a:prstGeom prst="rect">
            <a:avLst/>
          </a:prstGeom>
          <a:noFill/>
        </p:spPr>
        <p:txBody>
          <a:bodyPr wrap="square">
            <a:spAutoFit/>
          </a:bodyPr>
          <a:lstStyle/>
          <a:p>
            <a:pPr algn="l"/>
            <a:r>
              <a:rPr sz="1000" b="1" i="0">
                <a:solidFill>
                  <a:srgbClr val="00C8FF"/>
                </a:solidFill>
              </a:rPr>
              <a:t>â–¸</a:t>
            </a:r>
          </a:p>
        </p:txBody>
      </p:sp>
      <p:sp>
        <p:nvSpPr>
          <p:cNvPr id="22" name="TextBox 21"/>
          <p:cNvSpPr txBox="1"/>
          <p:nvPr/>
        </p:nvSpPr>
        <p:spPr>
          <a:xfrm>
            <a:off x="649224" y="3200400"/>
            <a:ext cx="5084064" cy="292608"/>
          </a:xfrm>
          <a:prstGeom prst="rect">
            <a:avLst/>
          </a:prstGeom>
          <a:noFill/>
        </p:spPr>
        <p:txBody>
          <a:bodyPr wrap="square">
            <a:spAutoFit/>
          </a:bodyPr>
          <a:lstStyle/>
          <a:p>
            <a:pPr algn="l"/>
            <a:r>
              <a:rPr sz="1200" b="0" i="0">
                <a:solidFill>
                  <a:srgbClr val="FFFFFF"/>
                </a:solidFill>
              </a:rPr>
              <a:t>Agglutinative Sinhala: one word carries multiple grammatical meanings</a:t>
            </a:r>
          </a:p>
        </p:txBody>
      </p:sp>
      <p:sp>
        <p:nvSpPr>
          <p:cNvPr id="23" name="TextBox 22"/>
          <p:cNvSpPr txBox="1"/>
          <p:nvPr/>
        </p:nvSpPr>
        <p:spPr>
          <a:xfrm>
            <a:off x="429768" y="3502152"/>
            <a:ext cx="228600" cy="292608"/>
          </a:xfrm>
          <a:prstGeom prst="rect">
            <a:avLst/>
          </a:prstGeom>
          <a:noFill/>
        </p:spPr>
        <p:txBody>
          <a:bodyPr wrap="square">
            <a:spAutoFit/>
          </a:bodyPr>
          <a:lstStyle/>
          <a:p>
            <a:pPr algn="l"/>
            <a:r>
              <a:rPr sz="1000" b="1" i="0">
                <a:solidFill>
                  <a:srgbClr val="00C8FF"/>
                </a:solidFill>
              </a:rPr>
              <a:t>â–¸</a:t>
            </a:r>
          </a:p>
        </p:txBody>
      </p:sp>
      <p:sp>
        <p:nvSpPr>
          <p:cNvPr id="24" name="TextBox 23"/>
          <p:cNvSpPr txBox="1"/>
          <p:nvPr/>
        </p:nvSpPr>
        <p:spPr>
          <a:xfrm>
            <a:off x="649224" y="3502152"/>
            <a:ext cx="5084064" cy="292608"/>
          </a:xfrm>
          <a:prstGeom prst="rect">
            <a:avLst/>
          </a:prstGeom>
          <a:noFill/>
        </p:spPr>
        <p:txBody>
          <a:bodyPr wrap="square">
            <a:spAutoFit/>
          </a:bodyPr>
          <a:lstStyle/>
          <a:p>
            <a:pPr algn="l"/>
            <a:r>
              <a:rPr sz="1200" b="0" i="0">
                <a:solidFill>
                  <a:srgbClr val="FFFFFF"/>
                </a:solidFill>
              </a:rPr>
              <a:t>Solved with vocabulary-driven morphological stripping â€” no hardcoded rules</a:t>
            </a:r>
          </a:p>
        </p:txBody>
      </p:sp>
      <p:sp>
        <p:nvSpPr>
          <p:cNvPr id="25" name="TextBox 24"/>
          <p:cNvSpPr txBox="1"/>
          <p:nvPr/>
        </p:nvSpPr>
        <p:spPr>
          <a:xfrm>
            <a:off x="429768" y="3803904"/>
            <a:ext cx="228600" cy="292608"/>
          </a:xfrm>
          <a:prstGeom prst="rect">
            <a:avLst/>
          </a:prstGeom>
          <a:noFill/>
        </p:spPr>
        <p:txBody>
          <a:bodyPr wrap="square">
            <a:spAutoFit/>
          </a:bodyPr>
          <a:lstStyle/>
          <a:p>
            <a:pPr algn="l"/>
            <a:r>
              <a:rPr sz="1000" b="1" i="0">
                <a:solidFill>
                  <a:srgbClr val="00C8FF"/>
                </a:solidFill>
              </a:rPr>
              <a:t>â–¸</a:t>
            </a:r>
          </a:p>
        </p:txBody>
      </p:sp>
      <p:sp>
        <p:nvSpPr>
          <p:cNvPr id="26" name="TextBox 25"/>
          <p:cNvSpPr txBox="1"/>
          <p:nvPr/>
        </p:nvSpPr>
        <p:spPr>
          <a:xfrm>
            <a:off x="649224" y="3803904"/>
            <a:ext cx="5084064" cy="292608"/>
          </a:xfrm>
          <a:prstGeom prst="rect">
            <a:avLst/>
          </a:prstGeom>
          <a:noFill/>
        </p:spPr>
        <p:txBody>
          <a:bodyPr wrap="square">
            <a:spAutoFit/>
          </a:bodyPr>
          <a:lstStyle/>
          <a:p>
            <a:pPr algn="l"/>
            <a:r>
              <a:rPr sz="1200" b="0" i="0">
                <a:solidFill>
                  <a:srgbClr val="FFFFFF"/>
                </a:solidFill>
              </a:rPr>
              <a:t>Pronoun dropping handled via context_engine.py inference</a:t>
            </a:r>
          </a:p>
        </p:txBody>
      </p:sp>
      <p:sp>
        <p:nvSpPr>
          <p:cNvPr id="27" name="TextBox 26"/>
          <p:cNvSpPr txBox="1"/>
          <p:nvPr/>
        </p:nvSpPr>
        <p:spPr>
          <a:xfrm>
            <a:off x="429768" y="4105656"/>
            <a:ext cx="228600" cy="292608"/>
          </a:xfrm>
          <a:prstGeom prst="rect">
            <a:avLst/>
          </a:prstGeom>
          <a:noFill/>
        </p:spPr>
        <p:txBody>
          <a:bodyPr wrap="square">
            <a:spAutoFit/>
          </a:bodyPr>
          <a:lstStyle/>
          <a:p>
            <a:pPr algn="l"/>
            <a:r>
              <a:rPr sz="1000" b="1" i="0">
                <a:solidFill>
                  <a:srgbClr val="00C8FF"/>
                </a:solidFill>
              </a:rPr>
              <a:t>â–¸</a:t>
            </a:r>
          </a:p>
        </p:txBody>
      </p:sp>
      <p:sp>
        <p:nvSpPr>
          <p:cNvPr id="28" name="TextBox 27"/>
          <p:cNvSpPr txBox="1"/>
          <p:nvPr/>
        </p:nvSpPr>
        <p:spPr>
          <a:xfrm>
            <a:off x="649224" y="4105656"/>
            <a:ext cx="5084064" cy="292608"/>
          </a:xfrm>
          <a:prstGeom prst="rect">
            <a:avLst/>
          </a:prstGeom>
          <a:noFill/>
        </p:spPr>
        <p:txBody>
          <a:bodyPr wrap="square">
            <a:spAutoFit/>
          </a:bodyPr>
          <a:lstStyle/>
          <a:p>
            <a:pPr algn="l"/>
            <a:r>
              <a:rPr sz="1200" b="0" i="0">
                <a:solidFill>
                  <a:srgbClr val="FFFFFF"/>
                </a:solidFill>
              </a:rPr>
              <a:t>Word2Vec fallback resolves ~85% of out-of-vocabulary tokens</a:t>
            </a:r>
          </a:p>
        </p:txBody>
      </p:sp>
      <p:sp>
        <p:nvSpPr>
          <p:cNvPr id="29" name="Rectangle 28"/>
          <p:cNvSpPr/>
          <p:nvPr/>
        </p:nvSpPr>
        <p:spPr>
          <a:xfrm>
            <a:off x="6035040" y="2743200"/>
            <a:ext cx="3749039" cy="1920240"/>
          </a:xfrm>
          <a:prstGeom prst="rect">
            <a:avLst/>
          </a:prstGeom>
          <a:solidFill>
            <a:srgbClr val="1B3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99631" y="2852928"/>
            <a:ext cx="3419856" cy="320040"/>
          </a:xfrm>
          <a:prstGeom prst="rect">
            <a:avLst/>
          </a:prstGeom>
          <a:noFill/>
        </p:spPr>
        <p:txBody>
          <a:bodyPr wrap="square">
            <a:spAutoFit/>
          </a:bodyPr>
          <a:lstStyle/>
          <a:p>
            <a:pPr algn="l"/>
            <a:r>
              <a:rPr sz="1300" b="1" i="0">
                <a:solidFill>
                  <a:srgbClr val="00C8FF"/>
                </a:solidFill>
              </a:rPr>
              <a:t>Future Work</a:t>
            </a:r>
          </a:p>
        </p:txBody>
      </p:sp>
      <p:sp>
        <p:nvSpPr>
          <p:cNvPr id="31" name="TextBox 30"/>
          <p:cNvSpPr txBox="1"/>
          <p:nvPr/>
        </p:nvSpPr>
        <p:spPr>
          <a:xfrm>
            <a:off x="6144768" y="3200400"/>
            <a:ext cx="228600" cy="292608"/>
          </a:xfrm>
          <a:prstGeom prst="rect">
            <a:avLst/>
          </a:prstGeom>
          <a:noFill/>
        </p:spPr>
        <p:txBody>
          <a:bodyPr wrap="square">
            <a:spAutoFit/>
          </a:bodyPr>
          <a:lstStyle/>
          <a:p>
            <a:pPr algn="l"/>
            <a:r>
              <a:rPr sz="1000" b="1" i="0">
                <a:solidFill>
                  <a:srgbClr val="00C8FF"/>
                </a:solidFill>
              </a:rPr>
              <a:t>â–¸</a:t>
            </a:r>
          </a:p>
        </p:txBody>
      </p:sp>
      <p:sp>
        <p:nvSpPr>
          <p:cNvPr id="32" name="TextBox 31"/>
          <p:cNvSpPr txBox="1"/>
          <p:nvPr/>
        </p:nvSpPr>
        <p:spPr>
          <a:xfrm>
            <a:off x="6364224" y="3200400"/>
            <a:ext cx="3255263" cy="292608"/>
          </a:xfrm>
          <a:prstGeom prst="rect">
            <a:avLst/>
          </a:prstGeom>
          <a:noFill/>
        </p:spPr>
        <p:txBody>
          <a:bodyPr wrap="square">
            <a:spAutoFit/>
          </a:bodyPr>
          <a:lstStyle/>
          <a:p>
            <a:pPr algn="l"/>
            <a:r>
              <a:rPr sz="1200" b="0" i="0">
                <a:solidFill>
                  <a:srgbClr val="FFFFFF"/>
                </a:solidFill>
              </a:rPr>
              <a:t>Expand dataset: 16 â†’ 25+ sign categories</a:t>
            </a:r>
          </a:p>
        </p:txBody>
      </p:sp>
      <p:sp>
        <p:nvSpPr>
          <p:cNvPr id="33" name="TextBox 32"/>
          <p:cNvSpPr txBox="1"/>
          <p:nvPr/>
        </p:nvSpPr>
        <p:spPr>
          <a:xfrm>
            <a:off x="6144768" y="3502152"/>
            <a:ext cx="228600" cy="292608"/>
          </a:xfrm>
          <a:prstGeom prst="rect">
            <a:avLst/>
          </a:prstGeom>
          <a:noFill/>
        </p:spPr>
        <p:txBody>
          <a:bodyPr wrap="square">
            <a:spAutoFit/>
          </a:bodyPr>
          <a:lstStyle/>
          <a:p>
            <a:pPr algn="l"/>
            <a:r>
              <a:rPr sz="1000" b="1" i="0">
                <a:solidFill>
                  <a:srgbClr val="00C8FF"/>
                </a:solidFill>
              </a:rPr>
              <a:t>â–¸</a:t>
            </a:r>
          </a:p>
        </p:txBody>
      </p:sp>
      <p:sp>
        <p:nvSpPr>
          <p:cNvPr id="34" name="TextBox 33"/>
          <p:cNvSpPr txBox="1"/>
          <p:nvPr/>
        </p:nvSpPr>
        <p:spPr>
          <a:xfrm>
            <a:off x="6364224" y="3502152"/>
            <a:ext cx="3255263" cy="292608"/>
          </a:xfrm>
          <a:prstGeom prst="rect">
            <a:avLst/>
          </a:prstGeom>
          <a:noFill/>
        </p:spPr>
        <p:txBody>
          <a:bodyPr wrap="square">
            <a:spAutoFit/>
          </a:bodyPr>
          <a:lstStyle/>
          <a:p>
            <a:pPr algn="l"/>
            <a:r>
              <a:rPr sz="1200" b="0" i="0">
                <a:solidFill>
                  <a:srgbClr val="FFFFFF"/>
                </a:solidFill>
              </a:rPr>
              <a:t>3D neural avatar engine (AI_AVAILABLE flag)</a:t>
            </a:r>
          </a:p>
        </p:txBody>
      </p:sp>
      <p:sp>
        <p:nvSpPr>
          <p:cNvPr id="35" name="TextBox 34"/>
          <p:cNvSpPr txBox="1"/>
          <p:nvPr/>
        </p:nvSpPr>
        <p:spPr>
          <a:xfrm>
            <a:off x="6144768" y="3803904"/>
            <a:ext cx="228600" cy="292608"/>
          </a:xfrm>
          <a:prstGeom prst="rect">
            <a:avLst/>
          </a:prstGeom>
          <a:noFill/>
        </p:spPr>
        <p:txBody>
          <a:bodyPr wrap="square">
            <a:spAutoFit/>
          </a:bodyPr>
          <a:lstStyle/>
          <a:p>
            <a:pPr algn="l"/>
            <a:r>
              <a:rPr sz="1000" b="1" i="0">
                <a:solidFill>
                  <a:srgbClr val="00C8FF"/>
                </a:solidFill>
              </a:rPr>
              <a:t>â–¸</a:t>
            </a:r>
          </a:p>
        </p:txBody>
      </p:sp>
      <p:sp>
        <p:nvSpPr>
          <p:cNvPr id="36" name="TextBox 35"/>
          <p:cNvSpPr txBox="1"/>
          <p:nvPr/>
        </p:nvSpPr>
        <p:spPr>
          <a:xfrm>
            <a:off x="6364224" y="3803904"/>
            <a:ext cx="3255263" cy="292608"/>
          </a:xfrm>
          <a:prstGeom prst="rect">
            <a:avLst/>
          </a:prstGeom>
          <a:noFill/>
        </p:spPr>
        <p:txBody>
          <a:bodyPr wrap="square">
            <a:spAutoFit/>
          </a:bodyPr>
          <a:lstStyle/>
          <a:p>
            <a:pPr algn="l"/>
            <a:r>
              <a:rPr sz="1200" b="0" i="0">
                <a:solidFill>
                  <a:srgbClr val="FFFFFF"/>
                </a:solidFill>
              </a:rPr>
              <a:t>Real-time two-way SSL â†” Sinhala translation</a:t>
            </a:r>
          </a:p>
        </p:txBody>
      </p:sp>
      <p:sp>
        <p:nvSpPr>
          <p:cNvPr id="37" name="TextBox 36"/>
          <p:cNvSpPr txBox="1"/>
          <p:nvPr/>
        </p:nvSpPr>
        <p:spPr>
          <a:xfrm>
            <a:off x="6144768" y="4105656"/>
            <a:ext cx="228600" cy="292608"/>
          </a:xfrm>
          <a:prstGeom prst="rect">
            <a:avLst/>
          </a:prstGeom>
          <a:noFill/>
        </p:spPr>
        <p:txBody>
          <a:bodyPr wrap="square">
            <a:spAutoFit/>
          </a:bodyPr>
          <a:lstStyle/>
          <a:p>
            <a:pPr algn="l"/>
            <a:r>
              <a:rPr sz="1000" b="1" i="0">
                <a:solidFill>
                  <a:srgbClr val="00C8FF"/>
                </a:solidFill>
              </a:rPr>
              <a:t>â–¸</a:t>
            </a:r>
          </a:p>
        </p:txBody>
      </p:sp>
      <p:sp>
        <p:nvSpPr>
          <p:cNvPr id="38" name="TextBox 37"/>
          <p:cNvSpPr txBox="1"/>
          <p:nvPr/>
        </p:nvSpPr>
        <p:spPr>
          <a:xfrm>
            <a:off x="6364224" y="4105656"/>
            <a:ext cx="3255263" cy="292608"/>
          </a:xfrm>
          <a:prstGeom prst="rect">
            <a:avLst/>
          </a:prstGeom>
          <a:noFill/>
        </p:spPr>
        <p:txBody>
          <a:bodyPr wrap="square">
            <a:spAutoFit/>
          </a:bodyPr>
          <a:lstStyle/>
          <a:p>
            <a:pPr algn="l"/>
            <a:r>
              <a:rPr sz="1200" b="0" i="0">
                <a:solidFill>
                  <a:srgbClr val="FFFFFF"/>
                </a:solidFill>
              </a:rPr>
              <a:t>Mobile app deployment for offline use</a:t>
            </a:r>
          </a:p>
        </p:txBody>
      </p:sp>
      <p:sp>
        <p:nvSpPr>
          <p:cNvPr id="39" name="Rectangle 38"/>
          <p:cNvSpPr/>
          <p:nvPr/>
        </p:nvSpPr>
        <p:spPr>
          <a:xfrm>
            <a:off x="9921240" y="2743200"/>
            <a:ext cx="1965960" cy="1920240"/>
          </a:xfrm>
          <a:prstGeom prst="rect">
            <a:avLst/>
          </a:prstGeom>
          <a:solidFill>
            <a:srgbClr val="0D2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40112" y="2834640"/>
            <a:ext cx="1737360" cy="320040"/>
          </a:xfrm>
          <a:prstGeom prst="rect">
            <a:avLst/>
          </a:prstGeom>
          <a:noFill/>
        </p:spPr>
        <p:txBody>
          <a:bodyPr wrap="square">
            <a:spAutoFit/>
          </a:bodyPr>
          <a:lstStyle/>
          <a:p>
            <a:pPr algn="l"/>
            <a:r>
              <a:rPr sz="1200" b="1" i="0">
                <a:solidFill>
                  <a:srgbClr val="22C55E"/>
                </a:solidFill>
              </a:rPr>
              <a:t>Impact</a:t>
            </a:r>
          </a:p>
        </p:txBody>
      </p:sp>
      <p:sp>
        <p:nvSpPr>
          <p:cNvPr id="41" name="TextBox 40"/>
          <p:cNvSpPr txBox="1"/>
          <p:nvPr/>
        </p:nvSpPr>
        <p:spPr>
          <a:xfrm>
            <a:off x="10040112" y="3200400"/>
            <a:ext cx="1737360" cy="274320"/>
          </a:xfrm>
          <a:prstGeom prst="rect">
            <a:avLst/>
          </a:prstGeom>
          <a:noFill/>
        </p:spPr>
        <p:txBody>
          <a:bodyPr wrap="square">
            <a:spAutoFit/>
          </a:bodyPr>
          <a:lstStyle/>
          <a:p>
            <a:pPr algn="l"/>
            <a:r>
              <a:rPr sz="1100" b="0" i="0">
                <a:solidFill>
                  <a:srgbClr val="FFFFFF"/>
                </a:solidFill>
              </a:rPr>
              <a:t>Empowers 35,000+</a:t>
            </a:r>
          </a:p>
        </p:txBody>
      </p:sp>
      <p:sp>
        <p:nvSpPr>
          <p:cNvPr id="42" name="TextBox 41"/>
          <p:cNvSpPr txBox="1"/>
          <p:nvPr/>
        </p:nvSpPr>
        <p:spPr>
          <a:xfrm>
            <a:off x="10040112" y="3447288"/>
            <a:ext cx="1737360" cy="274320"/>
          </a:xfrm>
          <a:prstGeom prst="rect">
            <a:avLst/>
          </a:prstGeom>
          <a:noFill/>
        </p:spPr>
        <p:txBody>
          <a:bodyPr wrap="square">
            <a:spAutoFit/>
          </a:bodyPr>
          <a:lstStyle/>
          <a:p>
            <a:pPr algn="l"/>
            <a:r>
              <a:rPr sz="1100" b="0" i="0">
                <a:solidFill>
                  <a:srgbClr val="FFFFFF"/>
                </a:solidFill>
              </a:rPr>
              <a:t>Sri Lankan deaf</a:t>
            </a:r>
          </a:p>
        </p:txBody>
      </p:sp>
      <p:sp>
        <p:nvSpPr>
          <p:cNvPr id="43" name="TextBox 42"/>
          <p:cNvSpPr txBox="1"/>
          <p:nvPr/>
        </p:nvSpPr>
        <p:spPr>
          <a:xfrm>
            <a:off x="10040112" y="3694176"/>
            <a:ext cx="1737360" cy="274320"/>
          </a:xfrm>
          <a:prstGeom prst="rect">
            <a:avLst/>
          </a:prstGeom>
          <a:noFill/>
        </p:spPr>
        <p:txBody>
          <a:bodyPr wrap="square">
            <a:spAutoFit/>
          </a:bodyPr>
          <a:lstStyle/>
          <a:p>
            <a:pPr algn="l"/>
            <a:r>
              <a:rPr sz="1100" b="0" i="0">
                <a:solidFill>
                  <a:srgbClr val="FFFFFF"/>
                </a:solidFill>
              </a:rPr>
              <a:t>learners</a:t>
            </a:r>
          </a:p>
        </p:txBody>
      </p:sp>
      <p:sp>
        <p:nvSpPr>
          <p:cNvPr id="44" name="TextBox 43"/>
          <p:cNvSpPr txBox="1"/>
          <p:nvPr/>
        </p:nvSpPr>
        <p:spPr>
          <a:xfrm>
            <a:off x="10040112" y="4187952"/>
            <a:ext cx="1737360" cy="274320"/>
          </a:xfrm>
          <a:prstGeom prst="rect">
            <a:avLst/>
          </a:prstGeom>
          <a:noFill/>
        </p:spPr>
        <p:txBody>
          <a:bodyPr wrap="square">
            <a:spAutoFit/>
          </a:bodyPr>
          <a:lstStyle/>
          <a:p>
            <a:pPr algn="l"/>
            <a:r>
              <a:rPr sz="1100" b="0" i="0">
                <a:solidFill>
                  <a:srgbClr val="FFFFFF"/>
                </a:solidFill>
              </a:rPr>
              <a:t>Available 24/7</a:t>
            </a:r>
          </a:p>
        </p:txBody>
      </p:sp>
      <p:sp>
        <p:nvSpPr>
          <p:cNvPr id="45" name="TextBox 44"/>
          <p:cNvSpPr txBox="1"/>
          <p:nvPr/>
        </p:nvSpPr>
        <p:spPr>
          <a:xfrm>
            <a:off x="10040112" y="4434840"/>
            <a:ext cx="1737360" cy="274320"/>
          </a:xfrm>
          <a:prstGeom prst="rect">
            <a:avLst/>
          </a:prstGeom>
          <a:noFill/>
        </p:spPr>
        <p:txBody>
          <a:bodyPr wrap="square">
            <a:spAutoFit/>
          </a:bodyPr>
          <a:lstStyle/>
          <a:p>
            <a:pPr algn="l"/>
            <a:r>
              <a:rPr sz="1100" b="0" i="0">
                <a:solidFill>
                  <a:srgbClr val="FFFFFF"/>
                </a:solidFill>
              </a:rPr>
              <a:t>No interpreter</a:t>
            </a:r>
          </a:p>
        </p:txBody>
      </p:sp>
      <p:sp>
        <p:nvSpPr>
          <p:cNvPr id="46" name="TextBox 45"/>
          <p:cNvSpPr txBox="1"/>
          <p:nvPr/>
        </p:nvSpPr>
        <p:spPr>
          <a:xfrm>
            <a:off x="10040112" y="4681727"/>
            <a:ext cx="1737360" cy="274320"/>
          </a:xfrm>
          <a:prstGeom prst="rect">
            <a:avLst/>
          </a:prstGeom>
          <a:noFill/>
        </p:spPr>
        <p:txBody>
          <a:bodyPr wrap="square">
            <a:spAutoFit/>
          </a:bodyPr>
          <a:lstStyle/>
          <a:p>
            <a:pPr algn="l"/>
            <a:r>
              <a:rPr sz="1100" b="0" i="0">
                <a:solidFill>
                  <a:srgbClr val="FFFFFF"/>
                </a:solidFill>
              </a:rPr>
              <a:t>needed</a:t>
            </a:r>
          </a:p>
        </p:txBody>
      </p:sp>
      <p:sp>
        <p:nvSpPr>
          <p:cNvPr id="47" name="Rectangle 46"/>
          <p:cNvSpPr/>
          <p:nvPr/>
        </p:nvSpPr>
        <p:spPr>
          <a:xfrm>
            <a:off x="320040" y="4828032"/>
            <a:ext cx="11548872" cy="621792"/>
          </a:xfrm>
          <a:prstGeom prst="rect">
            <a:avLst/>
          </a:prstGeom>
          <a:solidFill>
            <a:srgbClr val="14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02920" y="4882896"/>
            <a:ext cx="11247120" cy="512064"/>
          </a:xfrm>
          <a:prstGeom prst="rect">
            <a:avLst/>
          </a:prstGeom>
          <a:noFill/>
        </p:spPr>
        <p:txBody>
          <a:bodyPr wrap="square">
            <a:spAutoFit/>
          </a:bodyPr>
          <a:lstStyle/>
          <a:p>
            <a:pPr algn="ctr"/>
            <a:r>
              <a:rPr sz="1200" b="0" i="0">
                <a:solidFill>
                  <a:srgbClr val="FFFFFF"/>
                </a:solidFill>
              </a:rPr>
              <a:t>Fully functional real-time Sinhala â†’ SSL animation pipeline  Â·  Hybrid AI + Rule-based approach  Â·  Modular &amp; extensible architecture</a:t>
            </a:r>
          </a:p>
        </p:txBody>
      </p:sp>
      <p:sp>
        <p:nvSpPr>
          <p:cNvPr id="49" name="Rectangle 48"/>
          <p:cNvSpPr/>
          <p:nvPr/>
        </p:nvSpPr>
        <p:spPr>
          <a:xfrm>
            <a:off x="0" y="6263640"/>
            <a:ext cx="12188952" cy="594360"/>
          </a:xfrm>
          <a:prstGeom prst="rect">
            <a:avLst/>
          </a:prstGeom>
          <a:solidFill>
            <a:srgbClr val="14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5760" y="6291072"/>
            <a:ext cx="11430000" cy="411480"/>
          </a:xfrm>
          <a:prstGeom prst="rect">
            <a:avLst/>
          </a:prstGeom>
          <a:noFill/>
        </p:spPr>
        <p:txBody>
          <a:bodyPr wrap="square">
            <a:spAutoFit/>
          </a:bodyPr>
          <a:lstStyle/>
          <a:p>
            <a:pPr algn="ctr"/>
            <a:r>
              <a:rPr sz="1300" b="1" i="0">
                <a:solidFill>
                  <a:srgbClr val="FFFFFF"/>
                </a:solidFill>
              </a:rPr>
              <a:t>Thank You  |  IT22091352  |  Component 4: Text-to-SSL Animation  |  SLIIT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